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Verdana Bold" charset="1" panose="020B0804030504040204"/>
      <p:regular r:id="rId17"/>
    </p:embeddedFont>
    <p:embeddedFont>
      <p:font typeface="Verdana" charset="1" panose="020B0604030504040204"/>
      <p:regular r:id="rId18"/>
    </p:embeddedFont>
    <p:embeddedFont>
      <p:font typeface="Verdana Italics" charset="1" panose="020B06040305040B0204"/>
      <p:regular r:id="rId19"/>
    </p:embeddedFont>
    <p:embeddedFont>
      <p:font typeface="Arial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19308"/>
            <a:ext cx="9334710" cy="10295582"/>
            <a:chOff x="0" y="0"/>
            <a:chExt cx="12446279" cy="137274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46254" cy="13727430"/>
            </a:xfrm>
            <a:custGeom>
              <a:avLst/>
              <a:gdLst/>
              <a:ahLst/>
              <a:cxnLst/>
              <a:rect r="r" b="b" t="t" l="l"/>
              <a:pathLst>
                <a:path h="13727430" w="12446254">
                  <a:moveTo>
                    <a:pt x="0" y="0"/>
                  </a:moveTo>
                  <a:lnTo>
                    <a:pt x="12446254" y="0"/>
                  </a:lnTo>
                  <a:lnTo>
                    <a:pt x="12446254" y="13727430"/>
                  </a:lnTo>
                  <a:lnTo>
                    <a:pt x="0" y="13727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142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10242" cy="10295582"/>
            <a:chOff x="0" y="0"/>
            <a:chExt cx="146990" cy="137274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939" cy="13727430"/>
            </a:xfrm>
            <a:custGeom>
              <a:avLst/>
              <a:gdLst/>
              <a:ahLst/>
              <a:cxnLst/>
              <a:rect r="r" b="b" t="t" l="l"/>
              <a:pathLst>
                <a:path h="13727430" w="146939">
                  <a:moveTo>
                    <a:pt x="0" y="0"/>
                  </a:moveTo>
                  <a:lnTo>
                    <a:pt x="146939" y="0"/>
                  </a:lnTo>
                  <a:lnTo>
                    <a:pt x="146939" y="13727430"/>
                  </a:lnTo>
                  <a:lnTo>
                    <a:pt x="0" y="137274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D3E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3608" y="960872"/>
            <a:ext cx="2745886" cy="480974"/>
            <a:chOff x="0" y="0"/>
            <a:chExt cx="3661181" cy="6412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61156" cy="641350"/>
            </a:xfrm>
            <a:custGeom>
              <a:avLst/>
              <a:gdLst/>
              <a:ahLst/>
              <a:cxnLst/>
              <a:rect r="r" b="b" t="t" l="l"/>
              <a:pathLst>
                <a:path h="641350" w="3661156">
                  <a:moveTo>
                    <a:pt x="0" y="0"/>
                  </a:moveTo>
                  <a:lnTo>
                    <a:pt x="3661156" y="0"/>
                  </a:lnTo>
                  <a:lnTo>
                    <a:pt x="3661156" y="641350"/>
                  </a:lnTo>
                  <a:lnTo>
                    <a:pt x="0" y="641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2943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54672" y="996344"/>
            <a:ext cx="2483196" cy="39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621"/>
              </a:lnSpc>
            </a:pPr>
            <a:r>
              <a:rPr lang="en-US" b="true" sz="1351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EXECUTIVE PITCH DECK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3600" y="1623574"/>
            <a:ext cx="8056035" cy="32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GLOBAL: ~20% of UK EV owners lack home charging. 82% of US multi-family residents have no in-building charger.
INDIA CONTEXT: 42%+ of urban EV owners live in apartments with zero designated charging bays.
SOURCE: Zapmap 2024 · US DOE · India CEA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3600" y="2027806"/>
            <a:ext cx="7781496" cy="1588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You don't need to find a charger.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3600" y="3355289"/>
            <a:ext cx="7781496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We bring charging to you.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2636" y="4801643"/>
            <a:ext cx="7781496" cy="870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93A1BA"/>
                </a:solidFill>
                <a:latin typeface="Verdana"/>
                <a:ea typeface="Verdana"/>
                <a:cs typeface="Verdana"/>
                <a:sym typeface="Verdana"/>
              </a:rPr>
              <a:t>One unified platform · Two strategic models · Zero range anxiety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93A1BA"/>
                </a:solidFill>
                <a:latin typeface="Verdana"/>
                <a:ea typeface="Verdana"/>
                <a:cs typeface="Verdana"/>
                <a:sym typeface="Verdana"/>
              </a:rPr>
              <a:t>Urban concierge hubs combined with secure distributed highway charging.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23608" y="5747269"/>
            <a:ext cx="4942161" cy="577167"/>
            <a:chOff x="0" y="0"/>
            <a:chExt cx="6589547" cy="7695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89522" cy="769620"/>
            </a:xfrm>
            <a:custGeom>
              <a:avLst/>
              <a:gdLst/>
              <a:ahLst/>
              <a:cxnLst/>
              <a:rect r="r" b="b" t="t" l="l"/>
              <a:pathLst>
                <a:path h="769620" w="6589522">
                  <a:moveTo>
                    <a:pt x="0" y="0"/>
                  </a:moveTo>
                  <a:lnTo>
                    <a:pt x="6589522" y="0"/>
                  </a:lnTo>
                  <a:lnTo>
                    <a:pt x="6589522" y="769620"/>
                  </a:lnTo>
                  <a:lnTo>
                    <a:pt x="0" y="769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D3EE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54672" y="5792265"/>
            <a:ext cx="4679480" cy="48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81"/>
              </a:lnSpc>
            </a:pPr>
            <a:r>
              <a:rPr lang="en-US" b="true" sz="1651">
                <a:solidFill>
                  <a:srgbClr val="020611"/>
                </a:solidFill>
                <a:latin typeface="Verdana Bold"/>
                <a:ea typeface="Verdana Bold"/>
                <a:cs typeface="Verdana Bold"/>
                <a:sym typeface="Verdana Bold"/>
              </a:rPr>
              <a:t>MODEL 1 — URBAN HUB + VALET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3608" y="6500403"/>
            <a:ext cx="4942161" cy="577167"/>
            <a:chOff x="0" y="0"/>
            <a:chExt cx="6589547" cy="7695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89522" cy="769620"/>
            </a:xfrm>
            <a:custGeom>
              <a:avLst/>
              <a:gdLst/>
              <a:ahLst/>
              <a:cxnLst/>
              <a:rect r="r" b="b" t="t" l="l"/>
              <a:pathLst>
                <a:path h="769620" w="6589522">
                  <a:moveTo>
                    <a:pt x="0" y="0"/>
                  </a:moveTo>
                  <a:lnTo>
                    <a:pt x="6589522" y="0"/>
                  </a:lnTo>
                  <a:lnTo>
                    <a:pt x="6589522" y="769620"/>
                  </a:lnTo>
                  <a:lnTo>
                    <a:pt x="0" y="769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2943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54948" y="6629038"/>
            <a:ext cx="467948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81"/>
              </a:lnSpc>
            </a:pPr>
            <a:r>
              <a:rPr lang="en-US" b="true" sz="1651">
                <a:solidFill>
                  <a:srgbClr val="E8EDF7"/>
                </a:solidFill>
                <a:latin typeface="Verdana Bold"/>
                <a:ea typeface="Verdana Bold"/>
                <a:cs typeface="Verdana Bold"/>
                <a:sym typeface="Verdana Bold"/>
              </a:rPr>
              <a:t>MODEL 2 — HIGHWAY DISTRIBUTED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3608" y="7334745"/>
            <a:ext cx="8064741" cy="1898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3"/>
              </a:lnSpc>
            </a:pPr>
            <a:r>
              <a:rPr lang="en-US" sz="171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Concierge Valet: Vehicle collected 9 PM, returned 7 AM at 100% SoC</a:t>
            </a:r>
          </a:p>
          <a:p>
            <a:pPr algn="l">
              <a:lnSpc>
                <a:spcPts val="2053"/>
              </a:lnSpc>
            </a:pPr>
            <a:r>
              <a:rPr lang="en-US" sz="171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Highway Hosts: Private &amp; hotel chargers unlocked via Bluetooth token</a:t>
            </a:r>
          </a:p>
          <a:p>
            <a:pPr algn="l">
              <a:lnSpc>
                <a:spcPts val="2053"/>
              </a:lnSpc>
            </a:pPr>
            <a:r>
              <a:rPr lang="en-US" sz="171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Bank-Grade Trust: Virtual 3-zone security perimeter + automated escrow</a:t>
            </a:r>
          </a:p>
          <a:p>
            <a:pPr algn="l">
              <a:lnSpc>
                <a:spcPts val="2053"/>
              </a:lnSpc>
            </a:pPr>
            <a:r>
              <a:rPr lang="en-US" sz="171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Capital Efficiency: Owned vertical hubs (margin) + host network (scale)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731654" y="946547"/>
            <a:ext cx="7853420" cy="8127949"/>
            <a:chOff x="0" y="0"/>
            <a:chExt cx="10471226" cy="108372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71277" cy="10837291"/>
            </a:xfrm>
            <a:custGeom>
              <a:avLst/>
              <a:gdLst/>
              <a:ahLst/>
              <a:cxnLst/>
              <a:rect r="r" b="b" t="t" l="l"/>
              <a:pathLst>
                <a:path h="10837291" w="10471277">
                  <a:moveTo>
                    <a:pt x="0" y="0"/>
                  </a:moveTo>
                  <a:lnTo>
                    <a:pt x="10471277" y="0"/>
                  </a:lnTo>
                  <a:lnTo>
                    <a:pt x="10471277" y="10837291"/>
                  </a:lnTo>
                  <a:lnTo>
                    <a:pt x="0" y="1083729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2943"/>
            </a:solidFill>
            <a:ln w="28642" cap="sq">
              <a:solidFill>
                <a:srgbClr val="21D3E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814608" y="1029500"/>
            <a:ext cx="7686961" cy="7137892"/>
            <a:chOff x="0" y="0"/>
            <a:chExt cx="10249281" cy="95171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9281" cy="9517253"/>
            </a:xfrm>
            <a:custGeom>
              <a:avLst/>
              <a:gdLst/>
              <a:ahLst/>
              <a:cxnLst/>
              <a:rect r="r" b="b" t="t" l="l"/>
              <a:pathLst>
                <a:path h="9517253" w="10249281">
                  <a:moveTo>
                    <a:pt x="0" y="0"/>
                  </a:moveTo>
                  <a:lnTo>
                    <a:pt x="10249281" y="0"/>
                  </a:lnTo>
                  <a:lnTo>
                    <a:pt x="10249281" y="9517253"/>
                  </a:lnTo>
                  <a:lnTo>
                    <a:pt x="0" y="9517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2669" r="0" b="-12668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973237" y="8349672"/>
            <a:ext cx="7369702" cy="527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i="true">
                <a:solidFill>
                  <a:srgbClr val="93A1BA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⚠  RESEARCH NOTE: In dense metros, 42%+ lack home charging. Reliability is improving (12% fail rate, down from 14%), so convenience—not permanent failure—is the primary value driver.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72017" y="9347416"/>
            <a:ext cx="16954129" cy="687962"/>
            <a:chOff x="0" y="0"/>
            <a:chExt cx="22605505" cy="91728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605492" cy="917321"/>
            </a:xfrm>
            <a:custGeom>
              <a:avLst/>
              <a:gdLst/>
              <a:ahLst/>
              <a:cxnLst/>
              <a:rect r="r" b="b" t="t" l="l"/>
              <a:pathLst>
                <a:path h="917321" w="22605492">
                  <a:moveTo>
                    <a:pt x="0" y="0"/>
                  </a:moveTo>
                  <a:lnTo>
                    <a:pt x="22605492" y="0"/>
                  </a:lnTo>
                  <a:lnTo>
                    <a:pt x="22605492" y="917321"/>
                  </a:lnTo>
                  <a:lnTo>
                    <a:pt x="0" y="9173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80C"/>
            </a:solidFill>
            <a:ln w="28642" cap="sq">
              <a:solidFill>
                <a:srgbClr val="FBBF23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982237" y="9451791"/>
            <a:ext cx="16292065" cy="46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i="true">
                <a:solidFill>
                  <a:srgbClr val="FBBF23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⚠  RESEARCH NOTE: Data revised with J.D. Power (2024), Zapmap, NREL, and Frontiers in Sustainable Cities (2026). Sourced empirical corrections applied throughout.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2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6335" y="429244"/>
            <a:ext cx="16292065" cy="29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THE PROBLEM &amp; MARKET OPPORTUNITY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6335" y="758895"/>
            <a:ext cx="16744940" cy="56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Why public EV charging fails drivers today — and the data behind it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6335" y="1417672"/>
            <a:ext cx="16744940" cy="34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3A1BA"/>
                </a:solidFill>
                <a:latin typeface="Verdana"/>
                <a:ea typeface="Verdana"/>
                <a:cs typeface="Verdana"/>
                <a:sym typeface="Verdana"/>
              </a:rPr>
              <a:t>High-control urban overnight charging paired with an end-to-end digital valet flow.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76875" y="1980914"/>
            <a:ext cx="3972639" cy="7088715"/>
            <a:chOff x="0" y="0"/>
            <a:chExt cx="5296852" cy="94516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96916" cy="9451594"/>
            </a:xfrm>
            <a:custGeom>
              <a:avLst/>
              <a:gdLst/>
              <a:ahLst/>
              <a:cxnLst/>
              <a:rect r="r" b="b" t="t" l="l"/>
              <a:pathLst>
                <a:path h="9451594" w="5296916">
                  <a:moveTo>
                    <a:pt x="0" y="0"/>
                  </a:moveTo>
                  <a:lnTo>
                    <a:pt x="5296916" y="0"/>
                  </a:lnTo>
                  <a:lnTo>
                    <a:pt x="5296916" y="9451594"/>
                  </a:lnTo>
                  <a:lnTo>
                    <a:pt x="0" y="94515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1425"/>
            </a:solidFill>
            <a:ln w="18915" cap="sq">
              <a:solidFill>
                <a:srgbClr val="1B2943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050874" y="2212705"/>
            <a:ext cx="3224117" cy="698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>
                <a:solidFill>
                  <a:srgbClr val="E8EDF7"/>
                </a:solidFill>
                <a:latin typeface="Arial"/>
                <a:ea typeface="Arial"/>
                <a:cs typeface="Arial"/>
                <a:sym typeface="Arial"/>
              </a:rPr>
              <a:t>🏢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0874" y="2927614"/>
            <a:ext cx="3224117" cy="56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No Home Charger Access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60872" y="3568951"/>
            <a:ext cx="3404664" cy="19460"/>
            <a:chOff x="0" y="0"/>
            <a:chExt cx="4539552" cy="259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39488" cy="25908"/>
            </a:xfrm>
            <a:custGeom>
              <a:avLst/>
              <a:gdLst/>
              <a:ahLst/>
              <a:cxnLst/>
              <a:rect r="r" b="b" t="t" l="l"/>
              <a:pathLst>
                <a:path h="25908" w="4539488">
                  <a:moveTo>
                    <a:pt x="0" y="0"/>
                  </a:moveTo>
                  <a:lnTo>
                    <a:pt x="4539488" y="0"/>
                  </a:lnTo>
                  <a:lnTo>
                    <a:pt x="4539488" y="25908"/>
                  </a:lnTo>
                  <a:lnTo>
                    <a:pt x="0" y="259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2943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50874" y="3778777"/>
            <a:ext cx="3224117" cy="4988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GLOBAL: ~20% of UK EV owners lack home charging. 82% of US multi-family residents have no in-building charger.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INDIA CONTEXT: 42%+ of urban EV owners reside in apartment complexes with zero designated charging bays.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SOURCE: Zapmap 2024 · US DOE · India CEA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959725" y="1980914"/>
            <a:ext cx="3972639" cy="7088715"/>
            <a:chOff x="0" y="0"/>
            <a:chExt cx="5296852" cy="94516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96916" cy="9451594"/>
            </a:xfrm>
            <a:custGeom>
              <a:avLst/>
              <a:gdLst/>
              <a:ahLst/>
              <a:cxnLst/>
              <a:rect r="r" b="b" t="t" l="l"/>
              <a:pathLst>
                <a:path h="9451594" w="5296916">
                  <a:moveTo>
                    <a:pt x="0" y="0"/>
                  </a:moveTo>
                  <a:lnTo>
                    <a:pt x="5296916" y="0"/>
                  </a:lnTo>
                  <a:lnTo>
                    <a:pt x="5296916" y="9451594"/>
                  </a:lnTo>
                  <a:lnTo>
                    <a:pt x="0" y="94515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1425"/>
            </a:solidFill>
            <a:ln w="18915" cap="sq">
              <a:solidFill>
                <a:srgbClr val="1B2943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5333714" y="2212705"/>
            <a:ext cx="3224117" cy="698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>
                <a:solidFill>
                  <a:srgbClr val="E8EDF7"/>
                </a:solidFill>
                <a:latin typeface="Arial"/>
                <a:ea typeface="Arial"/>
                <a:cs typeface="Arial"/>
                <a:sym typeface="Arial"/>
              </a:rPr>
              <a:t>⚡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33714" y="2927614"/>
            <a:ext cx="3224117" cy="56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Unreliable Public Charging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243713" y="3568951"/>
            <a:ext cx="3404664" cy="19460"/>
            <a:chOff x="0" y="0"/>
            <a:chExt cx="4539552" cy="2594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39488" cy="25908"/>
            </a:xfrm>
            <a:custGeom>
              <a:avLst/>
              <a:gdLst/>
              <a:ahLst/>
              <a:cxnLst/>
              <a:rect r="r" b="b" t="t" l="l"/>
              <a:pathLst>
                <a:path h="25908" w="4539488">
                  <a:moveTo>
                    <a:pt x="0" y="0"/>
                  </a:moveTo>
                  <a:lnTo>
                    <a:pt x="4539488" y="0"/>
                  </a:lnTo>
                  <a:lnTo>
                    <a:pt x="4539488" y="25908"/>
                  </a:lnTo>
                  <a:lnTo>
                    <a:pt x="0" y="259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2943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333714" y="3778777"/>
            <a:ext cx="3224117" cy="4988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FAILURE RATE: 12% to 20% of public charging sessions fail depending on measurement standard.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BROKEN CHARGERS: 52.4% of non-Tesla drivers encountered defective chargers in 2023. Public charging reliability is improving, so pitch must emphasize convenience over permanent failure.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SOURCE: J.D. Power 2024 · PlugShare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42574" y="1980914"/>
            <a:ext cx="3972639" cy="7088715"/>
            <a:chOff x="0" y="0"/>
            <a:chExt cx="5296852" cy="94516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96916" cy="9451594"/>
            </a:xfrm>
            <a:custGeom>
              <a:avLst/>
              <a:gdLst/>
              <a:ahLst/>
              <a:cxnLst/>
              <a:rect r="r" b="b" t="t" l="l"/>
              <a:pathLst>
                <a:path h="9451594" w="5296916">
                  <a:moveTo>
                    <a:pt x="0" y="0"/>
                  </a:moveTo>
                  <a:lnTo>
                    <a:pt x="5296916" y="0"/>
                  </a:lnTo>
                  <a:lnTo>
                    <a:pt x="5296916" y="9451594"/>
                  </a:lnTo>
                  <a:lnTo>
                    <a:pt x="0" y="94515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1425"/>
            </a:solidFill>
            <a:ln w="18915" cap="sq">
              <a:solidFill>
                <a:srgbClr val="1B2943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616564" y="2212705"/>
            <a:ext cx="3224117" cy="698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>
                <a:solidFill>
                  <a:srgbClr val="E8EDF7"/>
                </a:solidFill>
                <a:latin typeface="Arial"/>
                <a:ea typeface="Arial"/>
                <a:cs typeface="Arial"/>
                <a:sym typeface="Arial"/>
              </a:rPr>
              <a:t>🛣️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16564" y="2927614"/>
            <a:ext cx="3224117" cy="56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Highway Corridor Gaps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526562" y="3568951"/>
            <a:ext cx="3404664" cy="19460"/>
            <a:chOff x="0" y="0"/>
            <a:chExt cx="4539552" cy="2594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39488" cy="25908"/>
            </a:xfrm>
            <a:custGeom>
              <a:avLst/>
              <a:gdLst/>
              <a:ahLst/>
              <a:cxnLst/>
              <a:rect r="r" b="b" t="t" l="l"/>
              <a:pathLst>
                <a:path h="25908" w="4539488">
                  <a:moveTo>
                    <a:pt x="0" y="0"/>
                  </a:moveTo>
                  <a:lnTo>
                    <a:pt x="4539488" y="0"/>
                  </a:lnTo>
                  <a:lnTo>
                    <a:pt x="4539488" y="25908"/>
                  </a:lnTo>
                  <a:lnTo>
                    <a:pt x="0" y="259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2943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616564" y="3778777"/>
            <a:ext cx="3224117" cy="4988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CHARGING DESERTS: Fast-charging gaps persist along inter-city highway corridors.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RANGE BOTTLENECKS: Long-distance travel outside metropolitan rings suffers from severe non-Tesla charger queueing and broken hardware.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SOURCE: NREL Corridor Analysis 2024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524881" y="1980914"/>
            <a:ext cx="3972639" cy="7088715"/>
            <a:chOff x="0" y="0"/>
            <a:chExt cx="5296852" cy="945161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96916" cy="9451594"/>
            </a:xfrm>
            <a:custGeom>
              <a:avLst/>
              <a:gdLst/>
              <a:ahLst/>
              <a:cxnLst/>
              <a:rect r="r" b="b" t="t" l="l"/>
              <a:pathLst>
                <a:path h="9451594" w="5296916">
                  <a:moveTo>
                    <a:pt x="0" y="0"/>
                  </a:moveTo>
                  <a:lnTo>
                    <a:pt x="5296916" y="0"/>
                  </a:lnTo>
                  <a:lnTo>
                    <a:pt x="5296916" y="9451594"/>
                  </a:lnTo>
                  <a:lnTo>
                    <a:pt x="0" y="94515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1425"/>
            </a:solidFill>
            <a:ln w="18915" cap="sq">
              <a:solidFill>
                <a:srgbClr val="1B2943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3898870" y="2212705"/>
            <a:ext cx="3224117" cy="698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602">
                <a:solidFill>
                  <a:srgbClr val="E8EDF7"/>
                </a:solidFill>
                <a:latin typeface="Arial"/>
                <a:ea typeface="Arial"/>
                <a:cs typeface="Arial"/>
                <a:sym typeface="Arial"/>
              </a:rPr>
              <a:t>• Doorstep Return: Pre-conditioned vehicle back at owner's bay by 7 AM.
• Escrow Settlement: Post-delivery photo verified; payment auto-released with digital receipt.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898870" y="2927614"/>
            <a:ext cx="3224117" cy="56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Millions of Idle Chargers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808869" y="3568951"/>
            <a:ext cx="3404664" cy="19460"/>
            <a:chOff x="0" y="0"/>
            <a:chExt cx="4539552" cy="2594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39488" cy="25908"/>
            </a:xfrm>
            <a:custGeom>
              <a:avLst/>
              <a:gdLst/>
              <a:ahLst/>
              <a:cxnLst/>
              <a:rect r="r" b="b" t="t" l="l"/>
              <a:pathLst>
                <a:path h="25908" w="4539488">
                  <a:moveTo>
                    <a:pt x="0" y="0"/>
                  </a:moveTo>
                  <a:lnTo>
                    <a:pt x="4539488" y="0"/>
                  </a:lnTo>
                  <a:lnTo>
                    <a:pt x="4539488" y="25908"/>
                  </a:lnTo>
                  <a:lnTo>
                    <a:pt x="0" y="259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2943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3898870" y="3778777"/>
            <a:ext cx="3224117" cy="4988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UNEXPLOITED ASSETS: Private residential, workplace, and hotel chargers sit idle 20+ hours daily.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DISTRIBUTED POTENTIAL: High CapEx public networks lag while private capacity remains locked behind closed gates.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SOURCE: Frontiers Sustainable Cities 2026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72017" y="9319851"/>
            <a:ext cx="16954129" cy="743083"/>
            <a:chOff x="0" y="0"/>
            <a:chExt cx="22605505" cy="99077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605492" cy="990727"/>
            </a:xfrm>
            <a:custGeom>
              <a:avLst/>
              <a:gdLst/>
              <a:ahLst/>
              <a:cxnLst/>
              <a:rect r="r" b="b" t="t" l="l"/>
              <a:pathLst>
                <a:path h="990727" w="22605492">
                  <a:moveTo>
                    <a:pt x="0" y="0"/>
                  </a:moveTo>
                  <a:lnTo>
                    <a:pt x="22605492" y="0"/>
                  </a:lnTo>
                  <a:lnTo>
                    <a:pt x="22605492" y="990727"/>
                  </a:lnTo>
                  <a:lnTo>
                    <a:pt x="0" y="9907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80C"/>
            </a:solidFill>
            <a:ln w="28642" cap="sq">
              <a:solidFill>
                <a:srgbClr val="FBBF23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982237" y="9424768"/>
            <a:ext cx="16292065" cy="523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i="true">
                <a:solidFill>
                  <a:srgbClr val="FBBF23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⚠  RESEARCH NOTE: Original deck's '42% lack home charging' was unsourced globally (85% of US EV drivers have home garages). However, 42%+ is accurate for metropolitan apartment dwellers in India and dense EU cities. Reliability is improving (12% fail rate, down from 14%), so convenience—not permanent public failure—is the primary value driver.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6335" y="429244"/>
            <a:ext cx="16292065" cy="29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MODEL 1 — URBAN CHARGING HUB + VALET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6335" y="758895"/>
            <a:ext cx="16744940" cy="56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Company-owned vertical parking towers with concierge pickup &amp; return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6335" y="1417672"/>
            <a:ext cx="16744940" cy="34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3A1BA"/>
                </a:solidFill>
                <a:latin typeface="Verdana"/>
                <a:ea typeface="Verdana"/>
                <a:cs typeface="Verdana"/>
                <a:sym typeface="Verdana"/>
              </a:rPr>
              <a:t>P2P corridor charging network backed by smart locks, automated escrow, and 5-phase onboarding.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76875" y="1980914"/>
            <a:ext cx="5510146" cy="7088715"/>
            <a:chOff x="0" y="0"/>
            <a:chExt cx="7346861" cy="94516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46823" cy="9451594"/>
            </a:xfrm>
            <a:custGeom>
              <a:avLst/>
              <a:gdLst/>
              <a:ahLst/>
              <a:cxnLst/>
              <a:rect r="r" b="b" t="t" l="l"/>
              <a:pathLst>
                <a:path h="9451594" w="7346823">
                  <a:moveTo>
                    <a:pt x="0" y="0"/>
                  </a:moveTo>
                  <a:lnTo>
                    <a:pt x="7346823" y="0"/>
                  </a:lnTo>
                  <a:lnTo>
                    <a:pt x="7346823" y="9451594"/>
                  </a:lnTo>
                  <a:lnTo>
                    <a:pt x="0" y="94515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1425"/>
            </a:solidFill>
            <a:ln w="18915" cap="sq">
              <a:solidFill>
                <a:srgbClr val="1B2943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23608" y="2127647"/>
            <a:ext cx="5216157" cy="3706216"/>
            <a:chOff x="0" y="0"/>
            <a:chExt cx="6954876" cy="49416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54901" cy="4941570"/>
            </a:xfrm>
            <a:custGeom>
              <a:avLst/>
              <a:gdLst/>
              <a:ahLst/>
              <a:cxnLst/>
              <a:rect r="r" b="b" t="t" l="l"/>
              <a:pathLst>
                <a:path h="4941570" w="6954901">
                  <a:moveTo>
                    <a:pt x="0" y="0"/>
                  </a:moveTo>
                  <a:lnTo>
                    <a:pt x="6954901" y="0"/>
                  </a:lnTo>
                  <a:lnTo>
                    <a:pt x="6954901" y="4941570"/>
                  </a:lnTo>
                  <a:lnTo>
                    <a:pt x="0" y="4941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438" t="0" r="-13438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82237" y="5937971"/>
            <a:ext cx="4898888" cy="483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i="true">
                <a:solidFill>
                  <a:srgbClr val="93A1BA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• Route Search: Filter corridor chargers by plug type, power, and verified host rating.
• 45-Min Reservation: Guaranteed slot with payment locked in secure escrow.
• Contactless BLE Token: Unlock gate and charger via Bluetooth — zero host interaction.
• Live Telemetry: Real-time tracking of kWh delivered, speed, and cost.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2237" y="6565192"/>
            <a:ext cx="4898888" cy="29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KEY ENGINEERING CHOICES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2237" y="6967471"/>
            <a:ext cx="4898888" cy="192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7–11 kW AC per stall: Mass EVs cap at 11 kW; 22 kW adds cost for zero overnight gain.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~2× Stacker Density: Proven vendor spec (avoids single-point failure carousel risk).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Solar + BESS Microgrid: Lowers peak grid tariffs and enables green charging.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Value-Add Concierge: Windshield wash, tyre check, and interior vacuum.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10738" y="1980914"/>
            <a:ext cx="11110541" cy="7088715"/>
            <a:chOff x="0" y="0"/>
            <a:chExt cx="14814055" cy="94516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814042" cy="9451594"/>
            </a:xfrm>
            <a:custGeom>
              <a:avLst/>
              <a:gdLst/>
              <a:ahLst/>
              <a:cxnLst/>
              <a:rect r="r" b="b" t="t" l="l"/>
              <a:pathLst>
                <a:path h="9451594" w="14814042">
                  <a:moveTo>
                    <a:pt x="0" y="0"/>
                  </a:moveTo>
                  <a:lnTo>
                    <a:pt x="14814042" y="0"/>
                  </a:lnTo>
                  <a:lnTo>
                    <a:pt x="14814042" y="9451594"/>
                  </a:lnTo>
                  <a:lnTo>
                    <a:pt x="0" y="94515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1425"/>
            </a:solidFill>
            <a:ln w="18915" cap="sq">
              <a:solidFill>
                <a:srgbClr val="1B2943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953364" y="2241280"/>
            <a:ext cx="10115045" cy="34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END-TO-END DIGITAL CONCIERGE FLOW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863363" y="2745343"/>
            <a:ext cx="4393092" cy="439903"/>
            <a:chOff x="0" y="0"/>
            <a:chExt cx="5857456" cy="5865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57494" cy="586486"/>
            </a:xfrm>
            <a:custGeom>
              <a:avLst/>
              <a:gdLst/>
              <a:ahLst/>
              <a:cxnLst/>
              <a:rect r="r" b="b" t="t" l="l"/>
              <a:pathLst>
                <a:path h="586486" w="5857494">
                  <a:moveTo>
                    <a:pt x="0" y="0"/>
                  </a:moveTo>
                  <a:lnTo>
                    <a:pt x="5857494" y="0"/>
                  </a:lnTo>
                  <a:lnTo>
                    <a:pt x="5857494" y="586486"/>
                  </a:lnTo>
                  <a:lnTo>
                    <a:pt x="0" y="586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D3EE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94436" y="2780824"/>
            <a:ext cx="4130411" cy="35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621"/>
              </a:lnSpc>
            </a:pPr>
            <a:r>
              <a:rPr lang="en-US" b="true" sz="1351">
                <a:solidFill>
                  <a:srgbClr val="020611"/>
                </a:solidFill>
                <a:latin typeface="Verdana Bold"/>
                <a:ea typeface="Verdana Bold"/>
                <a:cs typeface="Verdana Bold"/>
                <a:sym typeface="Verdana Bold"/>
              </a:rPr>
              <a:t>STAGE 1: SCHEDULE (9:00 PM)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53364" y="3284287"/>
            <a:ext cx="10115045" cy="403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Monetize Idle Assets: Turn driveway, hotel, or workplace chargers into income.
• Low-CapEx Kit: Platform ships plug-and-play smart lock, IoT gateway, and CCTV sensor.
• Virtual Perimeter: 3-zone fence automatically cuts power if guest crosses boundaries.
• Automated Payouts: Weekly direct bank deposits with comprehensive $1M insurance.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53364" y="3751212"/>
            <a:ext cx="10115045" cy="403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Escrow Lock: Platform holds estimated session + valet fee in digital escrow.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863363" y="4255284"/>
            <a:ext cx="4393092" cy="439903"/>
            <a:chOff x="0" y="0"/>
            <a:chExt cx="5857456" cy="58653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57494" cy="586486"/>
            </a:xfrm>
            <a:custGeom>
              <a:avLst/>
              <a:gdLst/>
              <a:ahLst/>
              <a:cxnLst/>
              <a:rect r="r" b="b" t="t" l="l"/>
              <a:pathLst>
                <a:path h="586486" w="5857494">
                  <a:moveTo>
                    <a:pt x="0" y="0"/>
                  </a:moveTo>
                  <a:lnTo>
                    <a:pt x="5857494" y="0"/>
                  </a:lnTo>
                  <a:lnTo>
                    <a:pt x="5857494" y="586486"/>
                  </a:lnTo>
                  <a:lnTo>
                    <a:pt x="0" y="586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D39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994436" y="4290755"/>
            <a:ext cx="4130411" cy="35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621"/>
              </a:lnSpc>
            </a:pPr>
            <a:r>
              <a:rPr lang="en-US" b="true" sz="1351">
                <a:solidFill>
                  <a:srgbClr val="020611"/>
                </a:solidFill>
                <a:latin typeface="Verdana Bold"/>
                <a:ea typeface="Verdana Bold"/>
                <a:cs typeface="Verdana Bold"/>
                <a:sym typeface="Verdana Bold"/>
              </a:rPr>
              <a:t>STAGE 2: PICKUP (9:30 PM)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953364" y="4794228"/>
            <a:ext cx="10115045" cy="403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Upload charger spec, breaker size &amp; kWh price.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53364" y="5261153"/>
            <a:ext cx="10115045" cy="403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360° AI Scan: Smartphone camera records vehicle panels to eliminate damage disputes.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863363" y="5765225"/>
            <a:ext cx="4393092" cy="439903"/>
            <a:chOff x="0" y="0"/>
            <a:chExt cx="5857456" cy="58653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857494" cy="586486"/>
            </a:xfrm>
            <a:custGeom>
              <a:avLst/>
              <a:gdLst/>
              <a:ahLst/>
              <a:cxnLst/>
              <a:rect r="r" b="b" t="t" l="l"/>
              <a:pathLst>
                <a:path h="586486" w="5857494">
                  <a:moveTo>
                    <a:pt x="0" y="0"/>
                  </a:moveTo>
                  <a:lnTo>
                    <a:pt x="5857494" y="0"/>
                  </a:lnTo>
                  <a:lnTo>
                    <a:pt x="5857494" y="586486"/>
                  </a:lnTo>
                  <a:lnTo>
                    <a:pt x="0" y="586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D3EE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6994436" y="5800696"/>
            <a:ext cx="4130411" cy="35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621"/>
              </a:lnSpc>
            </a:pPr>
            <a:r>
              <a:rPr lang="en-US" b="true" sz="1351">
                <a:solidFill>
                  <a:srgbClr val="020611"/>
                </a:solidFill>
                <a:latin typeface="Verdana Bold"/>
                <a:ea typeface="Verdana Bold"/>
                <a:cs typeface="Verdana Bold"/>
                <a:sym typeface="Verdana Bold"/>
              </a:rPr>
              <a:t>Electrician reviews panel capacity &amp; earthing.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53364" y="6304169"/>
            <a:ext cx="10115045" cy="403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Tower Stacking: Vehicle automatically parked in vertical automated stall.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53364" y="6771094"/>
            <a:ext cx="10115045" cy="403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Smart AC Charging: 7–11 kW charge curve with continuous thermal &amp; battery health monitoring.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863363" y="7275166"/>
            <a:ext cx="4393092" cy="439903"/>
            <a:chOff x="0" y="0"/>
            <a:chExt cx="5857456" cy="58653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857494" cy="586486"/>
            </a:xfrm>
            <a:custGeom>
              <a:avLst/>
              <a:gdLst/>
              <a:ahLst/>
              <a:cxnLst/>
              <a:rect r="r" b="b" t="t" l="l"/>
              <a:pathLst>
                <a:path h="586486" w="5857494">
                  <a:moveTo>
                    <a:pt x="0" y="0"/>
                  </a:moveTo>
                  <a:lnTo>
                    <a:pt x="5857494" y="0"/>
                  </a:lnTo>
                  <a:lnTo>
                    <a:pt x="5857494" y="586486"/>
                  </a:lnTo>
                  <a:lnTo>
                    <a:pt x="0" y="586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F23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6994436" y="7310638"/>
            <a:ext cx="4130411" cy="358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621"/>
              </a:lnSpc>
            </a:pPr>
            <a:r>
              <a:rPr lang="en-US" b="true" sz="1351">
                <a:solidFill>
                  <a:srgbClr val="020611"/>
                </a:solidFill>
                <a:latin typeface="Verdana Bold"/>
                <a:ea typeface="Verdana Bold"/>
                <a:cs typeface="Verdana Bold"/>
                <a:sym typeface="Verdana Bold"/>
              </a:rPr>
              <a:t>STAGE 4: RETURN (7:00 AM)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953364" y="7814110"/>
            <a:ext cx="10115045" cy="403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Doorstep Delivery: Pre-conditioned vehicle returned to owner's parking bay ready for work.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953364" y="8281035"/>
            <a:ext cx="10115045" cy="403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Escrow Settlement: Post-delivery photo verified; payment auto-released with digital receipt.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72017" y="9319851"/>
            <a:ext cx="16954129" cy="743083"/>
            <a:chOff x="0" y="0"/>
            <a:chExt cx="22605505" cy="99077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605492" cy="990727"/>
            </a:xfrm>
            <a:custGeom>
              <a:avLst/>
              <a:gdLst/>
              <a:ahLst/>
              <a:cxnLst/>
              <a:rect r="r" b="b" t="t" l="l"/>
              <a:pathLst>
                <a:path h="990727" w="22605492">
                  <a:moveTo>
                    <a:pt x="0" y="0"/>
                  </a:moveTo>
                  <a:lnTo>
                    <a:pt x="22605492" y="0"/>
                  </a:lnTo>
                  <a:lnTo>
                    <a:pt x="22605492" y="990727"/>
                  </a:lnTo>
                  <a:lnTo>
                    <a:pt x="0" y="9907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80C"/>
            </a:solidFill>
            <a:ln w="28642" cap="sq">
              <a:solidFill>
                <a:srgbClr val="FBBF23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982237" y="9424768"/>
            <a:ext cx="16292065" cy="523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i="true">
                <a:solidFill>
                  <a:srgbClr val="FBBF23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⚠  RESEARCH NOTE: Valet unit economics warning: US startups (Luxe, Zirx) collapsed over labour overheads. Fewer than 1/3 of EV drivers need daily charging. Solution: Offer weekly subscription packages (1–2x/week) to raise break-even probability from 10–15% to 25–35%.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6335" y="325565"/>
            <a:ext cx="16292065" cy="29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MODEL 2 — HIGHWAY DISTRIBUTED CHARGING &amp; ONBOARDING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6335" y="606495"/>
            <a:ext cx="16744940" cy="56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Unlocking private and commercial chargers with frictionless host onboarding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6749" y="1598114"/>
            <a:ext cx="16744940" cy="34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3A1BA"/>
                </a:solidFill>
                <a:latin typeface="Verdana"/>
                <a:ea typeface="Verdana"/>
                <a:cs typeface="Verdana"/>
                <a:sym typeface="Verdana"/>
              </a:rPr>
              <a:t>3-zone virtual perimeter, cryptographic smart locks, and sub-second hardware shutoffs.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72017" y="1976056"/>
            <a:ext cx="5931675" cy="4558998"/>
            <a:chOff x="0" y="0"/>
            <a:chExt cx="7908900" cy="60786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08925" cy="6078728"/>
            </a:xfrm>
            <a:custGeom>
              <a:avLst/>
              <a:gdLst/>
              <a:ahLst/>
              <a:cxnLst/>
              <a:rect r="r" b="b" t="t" l="l"/>
              <a:pathLst>
                <a:path h="6078728" w="7908925">
                  <a:moveTo>
                    <a:pt x="0" y="0"/>
                  </a:moveTo>
                  <a:lnTo>
                    <a:pt x="7908925" y="0"/>
                  </a:lnTo>
                  <a:lnTo>
                    <a:pt x="7908925" y="6078728"/>
                  </a:lnTo>
                  <a:lnTo>
                    <a:pt x="0" y="6078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1425"/>
            </a:solidFill>
            <a:ln w="28642" cap="sq">
              <a:solidFill>
                <a:srgbClr val="21D3EE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050874" y="2241280"/>
            <a:ext cx="5173418" cy="34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🚗  FOR HIGHWAY TRAVELLERS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0874" y="2712187"/>
            <a:ext cx="5173418" cy="74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Route Search: Filter corridor chargers by plug type, power, and verified host rating.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0874" y="3604422"/>
            <a:ext cx="5173418" cy="74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45-Min Reservation: Guaranteed charging slot with payment held in secure escrow.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0874" y="4496657"/>
            <a:ext cx="5173418" cy="74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Permitted vehicle footprint and charger radius. Active BLE token authorizes power flow; telemetry streams to host dashboard.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0874" y="5388902"/>
            <a:ext cx="5173418" cy="74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Live Telemetry: Real-time tracking of kWh delivered, charging speed, and cost.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853904" y="1980914"/>
            <a:ext cx="4961077" cy="4549273"/>
            <a:chOff x="0" y="0"/>
            <a:chExt cx="6614770" cy="60656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14795" cy="6065647"/>
            </a:xfrm>
            <a:custGeom>
              <a:avLst/>
              <a:gdLst/>
              <a:ahLst/>
              <a:cxnLst/>
              <a:rect r="r" b="b" t="t" l="l"/>
              <a:pathLst>
                <a:path h="6065647" w="6614795">
                  <a:moveTo>
                    <a:pt x="0" y="0"/>
                  </a:moveTo>
                  <a:lnTo>
                    <a:pt x="6614795" y="0"/>
                  </a:lnTo>
                  <a:lnTo>
                    <a:pt x="6614795" y="6065647"/>
                  </a:lnTo>
                  <a:lnTo>
                    <a:pt x="0" y="60656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2943"/>
            </a:solidFill>
            <a:ln w="18915" cap="sq">
              <a:solidFill>
                <a:srgbClr val="1B2943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6932000" y="2059010"/>
            <a:ext cx="4804353" cy="2608078"/>
            <a:chOff x="0" y="0"/>
            <a:chExt cx="6405804" cy="34774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05753" cy="3477387"/>
            </a:xfrm>
            <a:custGeom>
              <a:avLst/>
              <a:gdLst/>
              <a:ahLst/>
              <a:cxnLst/>
              <a:rect r="r" b="b" t="t" l="l"/>
              <a:pathLst>
                <a:path h="3477387" w="6405753">
                  <a:moveTo>
                    <a:pt x="0" y="0"/>
                  </a:moveTo>
                  <a:lnTo>
                    <a:pt x="6405753" y="0"/>
                  </a:lnTo>
                  <a:lnTo>
                    <a:pt x="6405753" y="3477387"/>
                  </a:lnTo>
                  <a:lnTo>
                    <a:pt x="0" y="3477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250" r="0" b="-1125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090629" y="4771196"/>
            <a:ext cx="4487085" cy="331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i="true">
                <a:solidFill>
                  <a:srgbClr val="93A1BA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Distributed charger with smart lock &amp; CCTV sensor kit.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991169" y="5206698"/>
            <a:ext cx="4686538" cy="1186224"/>
            <a:chOff x="0" y="0"/>
            <a:chExt cx="6248718" cy="15816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48781" cy="1581658"/>
            </a:xfrm>
            <a:custGeom>
              <a:avLst/>
              <a:gdLst/>
              <a:ahLst/>
              <a:cxnLst/>
              <a:rect r="r" b="b" t="t" l="l"/>
              <a:pathLst>
                <a:path h="1581658" w="6248781">
                  <a:moveTo>
                    <a:pt x="0" y="0"/>
                  </a:moveTo>
                  <a:lnTo>
                    <a:pt x="6248781" y="0"/>
                  </a:lnTo>
                  <a:lnTo>
                    <a:pt x="6248781" y="1581658"/>
                  </a:lnTo>
                  <a:lnTo>
                    <a:pt x="0" y="15816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1E37"/>
            </a:solidFill>
            <a:ln w="18915" cap="sq">
              <a:solidFill>
                <a:srgbClr val="33D399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7227894" y="5320265"/>
            <a:ext cx="4212555" cy="27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33D399"/>
                </a:solidFill>
                <a:latin typeface="Verdana Bold"/>
                <a:ea typeface="Verdana Bold"/>
                <a:cs typeface="Verdana Bold"/>
                <a:sym typeface="Verdana Bold"/>
              </a:rPr>
              <a:t>SESSION ECONOMICS (Illustrative)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227894" y="5663432"/>
            <a:ext cx="4212555" cy="578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Traveller: ~$12.50  ·  Host: ~$9.80 (78%)  ·  Platform: ~$2.70 (22%)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65194" y="1976056"/>
            <a:ext cx="5560943" cy="4558998"/>
            <a:chOff x="0" y="0"/>
            <a:chExt cx="7414590" cy="60786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414641" cy="6078728"/>
            </a:xfrm>
            <a:custGeom>
              <a:avLst/>
              <a:gdLst/>
              <a:ahLst/>
              <a:cxnLst/>
              <a:rect r="r" b="b" t="t" l="l"/>
              <a:pathLst>
                <a:path h="6078728" w="7414641">
                  <a:moveTo>
                    <a:pt x="0" y="0"/>
                  </a:moveTo>
                  <a:lnTo>
                    <a:pt x="7414641" y="0"/>
                  </a:lnTo>
                  <a:lnTo>
                    <a:pt x="7414641" y="6078728"/>
                  </a:lnTo>
                  <a:lnTo>
                    <a:pt x="0" y="6078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1425"/>
            </a:solidFill>
            <a:ln w="28642" cap="sq">
              <a:solidFill>
                <a:srgbClr val="33D399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444051" y="2241280"/>
            <a:ext cx="4761624" cy="34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33D399"/>
                </a:solidFill>
                <a:latin typeface="Verdana Bold"/>
                <a:ea typeface="Verdana Bold"/>
                <a:cs typeface="Verdana Bold"/>
                <a:sym typeface="Verdana Bold"/>
              </a:rPr>
              <a:t>🏠  FOR CHARGER HOSTS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44051" y="2712187"/>
            <a:ext cx="4761624" cy="74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Permanent cryptographic master key on mobile app.
• Instant manual override or session termination.
• Real-time earnings, kWh sold, and escrow tracking.
• Zone reconfiguration &amp; whitelist trusted neighbours.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44051" y="3604422"/>
            <a:ext cx="4761624" cy="74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Low-CapEx Kit: Platform ships plug-and-play smart lock, IoT gateway, and CCTV sensor.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444051" y="4496657"/>
            <a:ext cx="4761624" cy="74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Virtual Perimeter: 3-zone fence automatically cuts power if guest crosses boundaries.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444051" y="5388902"/>
            <a:ext cx="4761624" cy="74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Automated Payouts: Weekly direct bank deposits with comprehensive $1M insurance.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76875" y="6716639"/>
            <a:ext cx="16944394" cy="2421636"/>
            <a:chOff x="0" y="0"/>
            <a:chExt cx="22592525" cy="32288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592537" cy="3228848"/>
            </a:xfrm>
            <a:custGeom>
              <a:avLst/>
              <a:gdLst/>
              <a:ahLst/>
              <a:cxnLst/>
              <a:rect r="r" b="b" t="t" l="l"/>
              <a:pathLst>
                <a:path h="3228848" w="22592537">
                  <a:moveTo>
                    <a:pt x="0" y="0"/>
                  </a:moveTo>
                  <a:lnTo>
                    <a:pt x="22592537" y="0"/>
                  </a:lnTo>
                  <a:lnTo>
                    <a:pt x="22592537" y="3228848"/>
                  </a:lnTo>
                  <a:lnTo>
                    <a:pt x="0" y="3228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1425"/>
            </a:solidFill>
            <a:ln w="18915" cap="sq">
              <a:solidFill>
                <a:srgbClr val="1B2943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050874" y="6935924"/>
            <a:ext cx="15605731" cy="29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HOST ONBOARDING — 5 PHASES FROM SIGNUP TO PAYOUT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0872" y="7343794"/>
            <a:ext cx="577167" cy="439903"/>
            <a:chOff x="0" y="0"/>
            <a:chExt cx="769556" cy="58653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69620" cy="586486"/>
            </a:xfrm>
            <a:custGeom>
              <a:avLst/>
              <a:gdLst/>
              <a:ahLst/>
              <a:cxnLst/>
              <a:rect r="r" b="b" t="t" l="l"/>
              <a:pathLst>
                <a:path h="586486" w="769620">
                  <a:moveTo>
                    <a:pt x="0" y="0"/>
                  </a:moveTo>
                  <a:lnTo>
                    <a:pt x="769620" y="0"/>
                  </a:lnTo>
                  <a:lnTo>
                    <a:pt x="769620" y="586486"/>
                  </a:lnTo>
                  <a:lnTo>
                    <a:pt x="0" y="586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D3EE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91946" y="7388800"/>
            <a:ext cx="313944" cy="617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81"/>
              </a:lnSpc>
            </a:pPr>
            <a:r>
              <a:rPr lang="en-US" b="true" sz="1651">
                <a:solidFill>
                  <a:srgbClr val="020611"/>
                </a:solidFill>
                <a:latin typeface="Verdana Bold"/>
                <a:ea typeface="Verdana Bold"/>
                <a:cs typeface="Verdana Bold"/>
                <a:sym typeface="Verdana Bold"/>
              </a:rPr>
              <a:t>01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37208" y="7388800"/>
            <a:ext cx="2263245" cy="32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Sensor: Dual NTC thermistors inside connector pins.
Trigger: Terminal temp &gt;60°C or rises &gt;3°C/min.
Action: Current throttled 50%; contactor opens in 30s.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50874" y="7859706"/>
            <a:ext cx="2949588" cy="94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Upload charger spec, breaker size &amp; kWh price.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4337428" y="7343794"/>
            <a:ext cx="577167" cy="439903"/>
            <a:chOff x="0" y="0"/>
            <a:chExt cx="769556" cy="58653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69620" cy="586486"/>
            </a:xfrm>
            <a:custGeom>
              <a:avLst/>
              <a:gdLst/>
              <a:ahLst/>
              <a:cxnLst/>
              <a:rect r="r" b="b" t="t" l="l"/>
              <a:pathLst>
                <a:path h="586486" w="769620">
                  <a:moveTo>
                    <a:pt x="0" y="0"/>
                  </a:moveTo>
                  <a:lnTo>
                    <a:pt x="769620" y="0"/>
                  </a:lnTo>
                  <a:lnTo>
                    <a:pt x="769620" y="586486"/>
                  </a:lnTo>
                  <a:lnTo>
                    <a:pt x="0" y="586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D3EE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4469044" y="7388800"/>
            <a:ext cx="313944" cy="617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81"/>
              </a:lnSpc>
            </a:pPr>
            <a:r>
              <a:rPr lang="en-US" b="true" sz="1651">
                <a:solidFill>
                  <a:srgbClr val="020611"/>
                </a:solidFill>
                <a:latin typeface="Verdana Bold"/>
                <a:ea typeface="Verdana Bold"/>
                <a:cs typeface="Verdana Bold"/>
                <a:sym typeface="Verdana Bold"/>
              </a:rPr>
              <a:t>Sensor: Integrated Type-B RCD sampling at 1,000 Hz.
Trigger: DC leakage &gt;6 mA or AC residual &gt;30 mA.
Action: High-voltage relay cuts power in &lt;30 ms.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113763" y="7388800"/>
            <a:ext cx="2263245" cy="32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Verification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427430" y="7859706"/>
            <a:ext cx="2949588" cy="94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Electrician reviews panel capacity &amp; earthing.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7714526" y="7343794"/>
            <a:ext cx="577167" cy="439903"/>
            <a:chOff x="0" y="0"/>
            <a:chExt cx="769556" cy="58653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69620" cy="586486"/>
            </a:xfrm>
            <a:custGeom>
              <a:avLst/>
              <a:gdLst/>
              <a:ahLst/>
              <a:cxnLst/>
              <a:rect r="r" b="b" t="t" l="l"/>
              <a:pathLst>
                <a:path h="586486" w="769620">
                  <a:moveTo>
                    <a:pt x="0" y="0"/>
                  </a:moveTo>
                  <a:lnTo>
                    <a:pt x="769620" y="0"/>
                  </a:lnTo>
                  <a:lnTo>
                    <a:pt x="769620" y="586486"/>
                  </a:lnTo>
                  <a:lnTo>
                    <a:pt x="0" y="586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D399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7845600" y="7388800"/>
            <a:ext cx="313944" cy="617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81"/>
              </a:lnSpc>
            </a:pPr>
            <a:r>
              <a:rPr lang="en-US" b="true" sz="1651">
                <a:solidFill>
                  <a:srgbClr val="020611"/>
                </a:solidFill>
                <a:latin typeface="Verdana Bold"/>
                <a:ea typeface="Verdana Bold"/>
                <a:cs typeface="Verdana Bold"/>
                <a:sym typeface="Verdana Bold"/>
              </a:rPr>
              <a:t>03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490861" y="7388800"/>
            <a:ext cx="2263245" cy="32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Kit Install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804528" y="7859706"/>
            <a:ext cx="2949588" cy="94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⚠  RESEARCH NOTE: Hardware Safety Standards: All host smart locks and IoT gateways comply with UL 2231, IEC 61851, and SAE J1772 with pre-session automated self-diagnostic testing.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1091081" y="7343794"/>
            <a:ext cx="577167" cy="439903"/>
            <a:chOff x="0" y="0"/>
            <a:chExt cx="769556" cy="58653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69620" cy="586486"/>
            </a:xfrm>
            <a:custGeom>
              <a:avLst/>
              <a:gdLst/>
              <a:ahLst/>
              <a:cxnLst/>
              <a:rect r="r" b="b" t="t" l="l"/>
              <a:pathLst>
                <a:path h="586486" w="769620">
                  <a:moveTo>
                    <a:pt x="0" y="0"/>
                  </a:moveTo>
                  <a:lnTo>
                    <a:pt x="769620" y="0"/>
                  </a:lnTo>
                  <a:lnTo>
                    <a:pt x="769620" y="586486"/>
                  </a:lnTo>
                  <a:lnTo>
                    <a:pt x="0" y="586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D399"/>
            </a:solid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1222155" y="7388800"/>
            <a:ext cx="313944" cy="617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81"/>
              </a:lnSpc>
            </a:pPr>
            <a:r>
              <a:rPr lang="en-US" b="true" sz="1651">
                <a:solidFill>
                  <a:srgbClr val="020611"/>
                </a:solidFill>
                <a:latin typeface="Verdana Bold"/>
                <a:ea typeface="Verdana Bold"/>
                <a:cs typeface="Verdana Bold"/>
                <a:sym typeface="Verdana Bold"/>
              </a:rPr>
              <a:t>04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867417" y="7388800"/>
            <a:ext cx="2263245" cy="32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Go-Live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181083" y="7859706"/>
            <a:ext cx="2949588" cy="94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Calibrate 3-zone fence; listing published to map.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4468180" y="7343794"/>
            <a:ext cx="577167" cy="439903"/>
            <a:chOff x="0" y="0"/>
            <a:chExt cx="769556" cy="58653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69620" cy="586486"/>
            </a:xfrm>
            <a:custGeom>
              <a:avLst/>
              <a:gdLst/>
              <a:ahLst/>
              <a:cxnLst/>
              <a:rect r="r" b="b" t="t" l="l"/>
              <a:pathLst>
                <a:path h="586486" w="769620">
                  <a:moveTo>
                    <a:pt x="0" y="0"/>
                  </a:moveTo>
                  <a:lnTo>
                    <a:pt x="769620" y="0"/>
                  </a:lnTo>
                  <a:lnTo>
                    <a:pt x="769620" y="586486"/>
                  </a:lnTo>
                  <a:lnTo>
                    <a:pt x="0" y="586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F23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4599253" y="7388800"/>
            <a:ext cx="313944" cy="617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981"/>
              </a:lnSpc>
            </a:pPr>
            <a:r>
              <a:rPr lang="en-US" b="true" sz="1651">
                <a:solidFill>
                  <a:srgbClr val="020611"/>
                </a:solidFill>
                <a:latin typeface="Verdana Bold"/>
                <a:ea typeface="Verdana Bold"/>
                <a:cs typeface="Verdana Bold"/>
                <a:sym typeface="Verdana Bold"/>
              </a:rPr>
              <a:t>05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244515" y="7388800"/>
            <a:ext cx="2263245" cy="32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Earn &amp; Review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558181" y="7859706"/>
            <a:ext cx="2949588" cy="94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Automated weekly bank payouts &amp; host rating.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672017" y="9319851"/>
            <a:ext cx="16954129" cy="743083"/>
            <a:chOff x="0" y="0"/>
            <a:chExt cx="22605505" cy="99077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605492" cy="990727"/>
            </a:xfrm>
            <a:custGeom>
              <a:avLst/>
              <a:gdLst/>
              <a:ahLst/>
              <a:cxnLst/>
              <a:rect r="r" b="b" t="t" l="l"/>
              <a:pathLst>
                <a:path h="990727" w="22605492">
                  <a:moveTo>
                    <a:pt x="0" y="0"/>
                  </a:moveTo>
                  <a:lnTo>
                    <a:pt x="22605492" y="0"/>
                  </a:lnTo>
                  <a:lnTo>
                    <a:pt x="22605492" y="990727"/>
                  </a:lnTo>
                  <a:lnTo>
                    <a:pt x="0" y="9907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80C"/>
            </a:solidFill>
            <a:ln w="28642" cap="sq">
              <a:solidFill>
                <a:srgbClr val="FBBF23"/>
              </a:solidFill>
              <a:prstDash val="solid"/>
              <a:miter/>
            </a:ln>
          </p:spPr>
        </p:sp>
      </p:grpSp>
      <p:sp>
        <p:nvSpPr>
          <p:cNvPr name="TextBox 58" id="58"/>
          <p:cNvSpPr txBox="true"/>
          <p:nvPr/>
        </p:nvSpPr>
        <p:spPr>
          <a:xfrm rot="0">
            <a:off x="982237" y="9424768"/>
            <a:ext cx="16292065" cy="523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i="true">
                <a:solidFill>
                  <a:srgbClr val="FBBF23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⚠  RESEARCH NOTE: Arithmetic &amp; Corridor Reality: A 45-min slot at 7.4 kW yields ~5.5 kWh (~20 miles of range), NOT 14.8 kWh (which takes 2 hours). Strategic pivot: Partner with hotels &amp; fuel plazas for DC fast charging (scoring highest in NREL driver satisfaction), using host chargers for local top-ups.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2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6335" y="429244"/>
            <a:ext cx="16292065" cy="29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SECURITY, ACCESS CONTROL &amp; SAFETY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6335" y="758895"/>
            <a:ext cx="16744940" cy="56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Bank-grade trust, multi-tier permissions, and automated failsafe cutoffs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6335" y="1417672"/>
            <a:ext cx="16744940" cy="34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3A1BA"/>
                </a:solidFill>
                <a:latin typeface="Verdana"/>
                <a:ea typeface="Verdana"/>
                <a:cs typeface="Verdana"/>
                <a:sym typeface="Verdana"/>
              </a:rPr>
              <a:t>3-zone virtual perimeter, cryptographic smart locks, and sub-second hardware shutoffs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72017" y="1976056"/>
            <a:ext cx="5410171" cy="7098449"/>
            <a:chOff x="0" y="0"/>
            <a:chExt cx="7213562" cy="94645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13600" cy="9464548"/>
            </a:xfrm>
            <a:custGeom>
              <a:avLst/>
              <a:gdLst/>
              <a:ahLst/>
              <a:cxnLst/>
              <a:rect r="r" b="b" t="t" l="l"/>
              <a:pathLst>
                <a:path h="9464548" w="7213600">
                  <a:moveTo>
                    <a:pt x="0" y="0"/>
                  </a:moveTo>
                  <a:lnTo>
                    <a:pt x="7213600" y="0"/>
                  </a:lnTo>
                  <a:lnTo>
                    <a:pt x="7213600" y="9464548"/>
                  </a:lnTo>
                  <a:lnTo>
                    <a:pt x="0" y="94645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1425"/>
            </a:solidFill>
            <a:ln w="28642" cap="sq">
              <a:solidFill>
                <a:srgbClr val="21D3EE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050874" y="2241280"/>
            <a:ext cx="4624349" cy="34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🛡️  3-ZONE VIRTUAL PERIMETER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60872" y="2676716"/>
            <a:ext cx="4804896" cy="19460"/>
            <a:chOff x="0" y="0"/>
            <a:chExt cx="6406528" cy="259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6515" cy="25908"/>
            </a:xfrm>
            <a:custGeom>
              <a:avLst/>
              <a:gdLst/>
              <a:ahLst/>
              <a:cxnLst/>
              <a:rect r="r" b="b" t="t" l="l"/>
              <a:pathLst>
                <a:path h="25908" w="6406515">
                  <a:moveTo>
                    <a:pt x="0" y="0"/>
                  </a:moveTo>
                  <a:lnTo>
                    <a:pt x="6406515" y="0"/>
                  </a:lnTo>
                  <a:lnTo>
                    <a:pt x="6406515" y="25908"/>
                  </a:lnTo>
                  <a:lnTo>
                    <a:pt x="0" y="259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294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50874" y="2927614"/>
            <a:ext cx="4624349" cy="31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33D399"/>
                </a:solidFill>
                <a:latin typeface="Verdana Bold"/>
                <a:ea typeface="Verdana Bold"/>
                <a:cs typeface="Verdana Bold"/>
                <a:sym typeface="Verdana Bold"/>
              </a:rPr>
              <a:t>🟢 GREEN ZONE (Charging Bay)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0874" y="3274762"/>
            <a:ext cx="4624349" cy="129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Permitted vehicle footprint and charger radius.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Active BLE token authorizes power flow; telemetry streams to host dashboard.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0874" y="4780721"/>
            <a:ext cx="4624349" cy="31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FBBF23"/>
                </a:solidFill>
                <a:latin typeface="Verdana Bold"/>
                <a:ea typeface="Verdana Bold"/>
                <a:cs typeface="Verdana Bold"/>
                <a:sym typeface="Verdana Bold"/>
              </a:rPr>
              <a:t>🟡 YELLOW ZONE (5m Buffer)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0874" y="5127869"/>
            <a:ext cx="4624349" cy="129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5-meter warning boundary around vehicle.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Movement triggers push alert to host and traveller; CCTV switches to 4K recording.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0874" y="6633829"/>
            <a:ext cx="4624349" cy="31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F87070"/>
                </a:solidFill>
                <a:latin typeface="Verdana Bold"/>
                <a:ea typeface="Verdana Bold"/>
                <a:cs typeface="Verdana Bold"/>
                <a:sym typeface="Verdana Bold"/>
              </a:rPr>
              <a:t>🔴 RED ZONE (Property Breach)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0874" y="6980977"/>
            <a:ext cx="4624349" cy="129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Residence entrance or private garage boundary.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Instant high-voltage power kill in &lt;30 ms; 105 dB alarm + security alert.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437243" y="1976056"/>
            <a:ext cx="5410171" cy="7098449"/>
            <a:chOff x="0" y="0"/>
            <a:chExt cx="7213562" cy="94645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13600" cy="9464548"/>
            </a:xfrm>
            <a:custGeom>
              <a:avLst/>
              <a:gdLst/>
              <a:ahLst/>
              <a:cxnLst/>
              <a:rect r="r" b="b" t="t" l="l"/>
              <a:pathLst>
                <a:path h="9464548" w="7213600">
                  <a:moveTo>
                    <a:pt x="0" y="0"/>
                  </a:moveTo>
                  <a:lnTo>
                    <a:pt x="7213600" y="0"/>
                  </a:lnTo>
                  <a:lnTo>
                    <a:pt x="7213600" y="9464548"/>
                  </a:lnTo>
                  <a:lnTo>
                    <a:pt x="0" y="94645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1425"/>
            </a:solidFill>
            <a:ln w="28642" cap="sq">
              <a:solidFill>
                <a:srgbClr val="33D399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6816090" y="2241280"/>
            <a:ext cx="4624349" cy="34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33D399"/>
                </a:solidFill>
                <a:latin typeface="Verdana Bold"/>
                <a:ea typeface="Verdana Bold"/>
                <a:cs typeface="Verdana Bold"/>
                <a:sym typeface="Verdana Bold"/>
              </a:rPr>
              <a:t>🔐  DUAL-MODE SMART LOCKS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726098" y="2676716"/>
            <a:ext cx="4804896" cy="19460"/>
            <a:chOff x="0" y="0"/>
            <a:chExt cx="6406528" cy="2594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06515" cy="25908"/>
            </a:xfrm>
            <a:custGeom>
              <a:avLst/>
              <a:gdLst/>
              <a:ahLst/>
              <a:cxnLst/>
              <a:rect r="r" b="b" t="t" l="l"/>
              <a:pathLst>
                <a:path h="25908" w="6406515">
                  <a:moveTo>
                    <a:pt x="0" y="0"/>
                  </a:moveTo>
                  <a:lnTo>
                    <a:pt x="6406515" y="0"/>
                  </a:lnTo>
                  <a:lnTo>
                    <a:pt x="6406515" y="25908"/>
                  </a:lnTo>
                  <a:lnTo>
                    <a:pt x="0" y="259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2943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6816090" y="2927614"/>
            <a:ext cx="4624349" cy="31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🏠 OWNER MODE (Full Admin)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16090" y="3329892"/>
            <a:ext cx="4624349" cy="49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Permanent cryptographic master key on mobile app.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16090" y="3906517"/>
            <a:ext cx="4624349" cy="49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Instant manual override or session termination.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16090" y="4483151"/>
            <a:ext cx="4624349" cy="49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Real-time earnings, kWh sold, and escrow tracking.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16090" y="5059242"/>
            <a:ext cx="4624349" cy="49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Zone reconfiguration &amp; whitelist trusted neighbours.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16090" y="5741594"/>
            <a:ext cx="4624349" cy="31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33D399"/>
                </a:solidFill>
                <a:latin typeface="Verdana Bold"/>
                <a:ea typeface="Verdana Bold"/>
                <a:cs typeface="Verdana Bold"/>
                <a:sym typeface="Verdana Bold"/>
              </a:rPr>
              <a:t>🚗 TRAVELLER MODE (Time-Boxed)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16090" y="6143863"/>
            <a:ext cx="4624349" cy="49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Ephemeral Bluetooth LE key valid only during slot.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16090" y="6720497"/>
            <a:ext cx="4624349" cy="49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Operates offline (no cellular signal needed at driveway).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16090" y="7297131"/>
            <a:ext cx="4624349" cy="49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Zero access to host home premises or hardware settings.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16090" y="7873222"/>
            <a:ext cx="4624349" cy="496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• Automated lock re-engagement when window elapses.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202458" y="1976056"/>
            <a:ext cx="5423678" cy="7098449"/>
            <a:chOff x="0" y="0"/>
            <a:chExt cx="7231570" cy="94645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31507" cy="9464548"/>
            </a:xfrm>
            <a:custGeom>
              <a:avLst/>
              <a:gdLst/>
              <a:ahLst/>
              <a:cxnLst/>
              <a:rect r="r" b="b" t="t" l="l"/>
              <a:pathLst>
                <a:path h="9464548" w="7231507">
                  <a:moveTo>
                    <a:pt x="0" y="0"/>
                  </a:moveTo>
                  <a:lnTo>
                    <a:pt x="7231507" y="0"/>
                  </a:lnTo>
                  <a:lnTo>
                    <a:pt x="7231507" y="9464548"/>
                  </a:lnTo>
                  <a:lnTo>
                    <a:pt x="0" y="94645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1425"/>
            </a:solidFill>
            <a:ln w="28642" cap="sq">
              <a:solidFill>
                <a:srgbClr val="F87070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12581315" y="2241280"/>
            <a:ext cx="4624349" cy="34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87070"/>
                </a:solidFill>
                <a:latin typeface="Verdana Bold"/>
                <a:ea typeface="Verdana Bold"/>
                <a:cs typeface="Verdana Bold"/>
                <a:sym typeface="Verdana Bold"/>
              </a:rPr>
              <a:t>⚠️  3 FAILSAFE CUTOFF TRIGGERS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491323" y="2676716"/>
            <a:ext cx="4804896" cy="19460"/>
            <a:chOff x="0" y="0"/>
            <a:chExt cx="6406528" cy="2594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406515" cy="25908"/>
            </a:xfrm>
            <a:custGeom>
              <a:avLst/>
              <a:gdLst/>
              <a:ahLst/>
              <a:cxnLst/>
              <a:rect r="r" b="b" t="t" l="l"/>
              <a:pathLst>
                <a:path h="25908" w="6406515">
                  <a:moveTo>
                    <a:pt x="0" y="0"/>
                  </a:moveTo>
                  <a:lnTo>
                    <a:pt x="6406515" y="0"/>
                  </a:lnTo>
                  <a:lnTo>
                    <a:pt x="6406515" y="25908"/>
                  </a:lnTo>
                  <a:lnTo>
                    <a:pt x="0" y="259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2943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581315" y="2927614"/>
            <a:ext cx="4624349" cy="31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F87070"/>
                </a:solidFill>
                <a:latin typeface="Verdana Bold"/>
                <a:ea typeface="Verdana Bold"/>
                <a:cs typeface="Verdana Bold"/>
                <a:sym typeface="Verdana Bold"/>
              </a:rPr>
              <a:t>🌡️ Thermal Overheat Probe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581315" y="3274762"/>
            <a:ext cx="4624349" cy="129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Sensor: Dual NTC thermistors inside connector pins.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Trigger: Terminal temp &gt;60°C or rises &gt;3°C/min.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Action: Current throttled 50%; contactor opens in 30s.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581315" y="4780721"/>
            <a:ext cx="4624349" cy="31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FBBF23"/>
                </a:solidFill>
                <a:latin typeface="Verdana Bold"/>
                <a:ea typeface="Verdana Bold"/>
                <a:cs typeface="Verdana Bold"/>
                <a:sym typeface="Verdana Bold"/>
              </a:rPr>
              <a:t>⚡ Ground-Fault (RCD) Monitor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581315" y="5127869"/>
            <a:ext cx="4624349" cy="129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Sensor: Integrated Type-B RCD sampling at 1,000 Hz.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Trigger: DC leakage &gt;6 mA or AC residual &gt;30 mA.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Action: High-voltage relay cuts power in &lt;30 ms.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581315" y="6633829"/>
            <a:ext cx="4624349" cy="313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📷 AI Vision Damage Inspection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581315" y="6980977"/>
            <a:ext cx="4624349" cy="129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Sensor: 4K optical sensor with night-vision IR.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Trigger: Cable dragged, connector dropped, panel scuff.</a:t>
            </a:r>
          </a:p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Action: Escrow frozen; dispute ticket generated with photos.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672017" y="9319851"/>
            <a:ext cx="16954129" cy="687962"/>
            <a:chOff x="0" y="0"/>
            <a:chExt cx="22605505" cy="91728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605492" cy="917321"/>
            </a:xfrm>
            <a:custGeom>
              <a:avLst/>
              <a:gdLst/>
              <a:ahLst/>
              <a:cxnLst/>
              <a:rect r="r" b="b" t="t" l="l"/>
              <a:pathLst>
                <a:path h="917321" w="22605492">
                  <a:moveTo>
                    <a:pt x="0" y="0"/>
                  </a:moveTo>
                  <a:lnTo>
                    <a:pt x="22605492" y="0"/>
                  </a:lnTo>
                  <a:lnTo>
                    <a:pt x="22605492" y="917321"/>
                  </a:lnTo>
                  <a:lnTo>
                    <a:pt x="0" y="9173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80C"/>
            </a:solidFill>
            <a:ln w="28642" cap="sq">
              <a:solidFill>
                <a:srgbClr val="FBBF23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982237" y="9424768"/>
            <a:ext cx="16292065" cy="46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i="true">
                <a:solidFill>
                  <a:srgbClr val="FBBF23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⚠  Hardware complies with UL 2231, IEC 61851, and SAE J1772 with pre-session automated self-diagnostics before every charge.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2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6335" y="429244"/>
            <a:ext cx="16292065" cy="29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BUSINESS MODEL &amp; ECOSYSTEM FLYWHEEL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6335" y="758895"/>
            <a:ext cx="16744940" cy="56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Balancing high-margin owned assets with zero-CapEx distributed scale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6335" y="1417672"/>
            <a:ext cx="16744940" cy="34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3A1BA"/>
                </a:solidFill>
                <a:latin typeface="Verdana"/>
                <a:ea typeface="Verdana"/>
                <a:cs typeface="Verdana"/>
                <a:sym typeface="Verdana"/>
              </a:rPr>
              <a:t>7 diversified revenue streams powered by a self-reinforcing three-sided network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72017" y="1976056"/>
            <a:ext cx="6618008" cy="7098449"/>
            <a:chOff x="0" y="0"/>
            <a:chExt cx="8824011" cy="94645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23960" cy="9464548"/>
            </a:xfrm>
            <a:custGeom>
              <a:avLst/>
              <a:gdLst/>
              <a:ahLst/>
              <a:cxnLst/>
              <a:rect r="r" b="b" t="t" l="l"/>
              <a:pathLst>
                <a:path h="9464548" w="8823960">
                  <a:moveTo>
                    <a:pt x="0" y="0"/>
                  </a:moveTo>
                  <a:lnTo>
                    <a:pt x="8823960" y="0"/>
                  </a:lnTo>
                  <a:lnTo>
                    <a:pt x="8823960" y="9464548"/>
                  </a:lnTo>
                  <a:lnTo>
                    <a:pt x="0" y="94645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1425"/>
            </a:solidFill>
            <a:ln w="28642" cap="sq">
              <a:solidFill>
                <a:srgbClr val="21D3EE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050874" y="2241280"/>
            <a:ext cx="5859761" cy="32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THE 3-SIDED ECOSYSTEM FLYWHEEL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60872" y="2676716"/>
            <a:ext cx="6040298" cy="19460"/>
            <a:chOff x="0" y="0"/>
            <a:chExt cx="8053730" cy="259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53705" cy="25908"/>
            </a:xfrm>
            <a:custGeom>
              <a:avLst/>
              <a:gdLst/>
              <a:ahLst/>
              <a:cxnLst/>
              <a:rect r="r" b="b" t="t" l="l"/>
              <a:pathLst>
                <a:path h="25908" w="8053705">
                  <a:moveTo>
                    <a:pt x="0" y="0"/>
                  </a:moveTo>
                  <a:lnTo>
                    <a:pt x="8053705" y="0"/>
                  </a:lnTo>
                  <a:lnTo>
                    <a:pt x="8053705" y="25908"/>
                  </a:lnTo>
                  <a:lnTo>
                    <a:pt x="0" y="259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294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50874" y="2927614"/>
            <a:ext cx="5859761" cy="29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SUPPLY CHANNELS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0874" y="3274762"/>
            <a:ext cx="5859761" cy="108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Urban vertical stacker hubs (owned), residential host driveways, hotel corridors, commercial fleet depots.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0874" y="4181056"/>
            <a:ext cx="5859761" cy="295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621"/>
              </a:lnSpc>
            </a:pPr>
            <a:r>
              <a:rPr lang="ar-EG" b="true" sz="1351">
                <a:solidFill>
                  <a:srgbClr val="93A1BA"/>
                </a:solidFill>
                <a:latin typeface="Verdana Bold"/>
                <a:ea typeface="Verdana Bold"/>
                <a:cs typeface="Verdana Bold"/>
                <a:sym typeface="Verdana Bold"/>
                <a:rtl val="true"/>
              </a:rPr>
              <a:t>⇅  </a:t>
            </a:r>
            <a:r>
              <a:rPr lang="en-US" b="true" sz="1351">
                <a:solidFill>
                  <a:srgbClr val="93A1BA"/>
                </a:solidFill>
                <a:latin typeface="Verdana Bold"/>
                <a:ea typeface="Verdana Bold"/>
                <a:cs typeface="Verdana Bold"/>
                <a:sym typeface="Verdana Bold"/>
              </a:rPr>
              <a:t>Self-Reinforcing Network Effects</a:t>
            </a:r>
            <a:r>
              <a:rPr lang="ar-EG" b="true" sz="1351">
                <a:solidFill>
                  <a:srgbClr val="93A1BA"/>
                </a:solidFill>
                <a:latin typeface="Verdana Bold"/>
                <a:ea typeface="Verdana Bold"/>
                <a:cs typeface="Verdana Bold"/>
                <a:sym typeface="Verdana Bold"/>
                <a:rtl val="true"/>
              </a:rPr>
              <a:t>  ⇅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0874" y="4506182"/>
            <a:ext cx="5859761" cy="29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CORE PLATFORM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0874" y="4853340"/>
            <a:ext cx="5859761" cy="108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Matching engine, dynamic pricing, BLE token smart locks, escrow clearinghouse, AI vision &amp; safety telemetry.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0874" y="5759625"/>
            <a:ext cx="5859761" cy="295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621"/>
              </a:lnSpc>
            </a:pPr>
            <a:r>
              <a:rPr lang="ar-EG" b="true" sz="1351">
                <a:solidFill>
                  <a:srgbClr val="93A1BA"/>
                </a:solidFill>
                <a:latin typeface="Verdana Bold"/>
                <a:ea typeface="Verdana Bold"/>
                <a:cs typeface="Verdana Bold"/>
                <a:sym typeface="Verdana Bold"/>
                <a:rtl val="true"/>
              </a:rPr>
              <a:t>⇅  </a:t>
            </a:r>
            <a:r>
              <a:rPr lang="en-US" b="true" sz="1351">
                <a:solidFill>
                  <a:srgbClr val="93A1BA"/>
                </a:solidFill>
                <a:latin typeface="Verdana Bold"/>
                <a:ea typeface="Verdana Bold"/>
                <a:cs typeface="Verdana Bold"/>
                <a:sym typeface="Verdana Bold"/>
              </a:rPr>
              <a:t>Self-Reinforcing Network Effects</a:t>
            </a:r>
            <a:r>
              <a:rPr lang="ar-EG" b="true" sz="1351">
                <a:solidFill>
                  <a:srgbClr val="93A1BA"/>
                </a:solidFill>
                <a:latin typeface="Verdana Bold"/>
                <a:ea typeface="Verdana Bold"/>
                <a:cs typeface="Verdana Bold"/>
                <a:sym typeface="Verdana Bold"/>
                <a:rtl val="true"/>
              </a:rPr>
              <a:t>  ⇅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0874" y="6084760"/>
            <a:ext cx="5859761" cy="29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33D399"/>
                </a:solidFill>
                <a:latin typeface="Verdana Bold"/>
                <a:ea typeface="Verdana Bold"/>
                <a:cs typeface="Verdana Bold"/>
                <a:sym typeface="Verdana Bold"/>
              </a:rPr>
              <a:t>DEMAND CHANNELS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0874" y="6431909"/>
            <a:ext cx="5859761" cy="108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Urban apartment EV drivers, inter-city road-trippers, ride-hail (Uber/Ola), and last-mile delivery fleets.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51414" y="7677512"/>
            <a:ext cx="6059214" cy="1186224"/>
            <a:chOff x="0" y="0"/>
            <a:chExt cx="8078953" cy="158163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78978" cy="1581658"/>
            </a:xfrm>
            <a:custGeom>
              <a:avLst/>
              <a:gdLst/>
              <a:ahLst/>
              <a:cxnLst/>
              <a:rect r="r" b="b" t="t" l="l"/>
              <a:pathLst>
                <a:path h="1581658" w="8078978">
                  <a:moveTo>
                    <a:pt x="0" y="0"/>
                  </a:moveTo>
                  <a:lnTo>
                    <a:pt x="8078978" y="0"/>
                  </a:lnTo>
                  <a:lnTo>
                    <a:pt x="8078978" y="1581658"/>
                  </a:lnTo>
                  <a:lnTo>
                    <a:pt x="0" y="158165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21E37"/>
            </a:solidFill>
            <a:ln w="18915" cap="sq">
              <a:solidFill>
                <a:srgbClr val="33D399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188139" y="7832150"/>
            <a:ext cx="5585222" cy="880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FLYWHEEL: Each 50 corridor hosts cut detour distance by 3.2 miles → higher conversion → more bookings → higher host earnings attract more supply.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540238" y="1980914"/>
            <a:ext cx="10081031" cy="7088715"/>
            <a:chOff x="0" y="0"/>
            <a:chExt cx="13441375" cy="94516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441426" cy="9451594"/>
            </a:xfrm>
            <a:custGeom>
              <a:avLst/>
              <a:gdLst/>
              <a:ahLst/>
              <a:cxnLst/>
              <a:rect r="r" b="b" t="t" l="l"/>
              <a:pathLst>
                <a:path h="9451594" w="13441426">
                  <a:moveTo>
                    <a:pt x="0" y="0"/>
                  </a:moveTo>
                  <a:lnTo>
                    <a:pt x="13441426" y="0"/>
                  </a:lnTo>
                  <a:lnTo>
                    <a:pt x="13441426" y="9451594"/>
                  </a:lnTo>
                  <a:lnTo>
                    <a:pt x="0" y="94515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1425"/>
            </a:solidFill>
            <a:ln w="18915" cap="sq">
              <a:solidFill>
                <a:srgbClr val="1B2943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7982864" y="2241280"/>
            <a:ext cx="9154173" cy="34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7 DIVERSIFIED REVENUE STREAMS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7892863" y="2676716"/>
            <a:ext cx="9334710" cy="19460"/>
            <a:chOff x="0" y="0"/>
            <a:chExt cx="12446279" cy="2594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446254" cy="25908"/>
            </a:xfrm>
            <a:custGeom>
              <a:avLst/>
              <a:gdLst/>
              <a:ahLst/>
              <a:cxnLst/>
              <a:rect r="r" b="b" t="t" l="l"/>
              <a:pathLst>
                <a:path h="25908" w="12446254">
                  <a:moveTo>
                    <a:pt x="0" y="0"/>
                  </a:moveTo>
                  <a:lnTo>
                    <a:pt x="12446254" y="0"/>
                  </a:lnTo>
                  <a:lnTo>
                    <a:pt x="12446254" y="25908"/>
                  </a:lnTo>
                  <a:lnTo>
                    <a:pt x="0" y="259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2943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7982864" y="2849451"/>
            <a:ext cx="300438" cy="418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8EDF7"/>
                </a:solidFill>
                <a:latin typeface="Arial"/>
                <a:ea typeface="Arial"/>
                <a:cs typeface="Arial"/>
                <a:sym typeface="Arial"/>
              </a:rPr>
              <a:t>⚡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531933" y="2858976"/>
            <a:ext cx="2839879" cy="29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Charging Margin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620452" y="2849451"/>
            <a:ext cx="5585222" cy="74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Retail electricity markup at owned hubs ($0.12/kWh) and host spread ($0.05/kWh).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982864" y="3714131"/>
            <a:ext cx="300438" cy="418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8EDF7"/>
                </a:solidFill>
                <a:latin typeface="Arial"/>
                <a:ea typeface="Arial"/>
                <a:cs typeface="Arial"/>
                <a:sym typeface="Arial"/>
              </a:rPr>
              <a:t>🚗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531933" y="3723656"/>
            <a:ext cx="2839879" cy="29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FBBF23"/>
                </a:solidFill>
                <a:latin typeface="Verdana Bold"/>
                <a:ea typeface="Verdana Bold"/>
                <a:cs typeface="Verdana Bold"/>
                <a:sym typeface="Verdana Bold"/>
              </a:rPr>
              <a:t>Valet Concierge Fee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20452" y="3714131"/>
            <a:ext cx="5585222" cy="74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$15–$25 flat fee per vehicle pickup, charge, and morning return event.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982864" y="4578801"/>
            <a:ext cx="300438" cy="418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8EDF7"/>
                </a:solidFill>
                <a:latin typeface="Arial"/>
                <a:ea typeface="Arial"/>
                <a:cs typeface="Arial"/>
                <a:sym typeface="Arial"/>
              </a:rPr>
              <a:t>📱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31933" y="4588326"/>
            <a:ext cx="2839879" cy="29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Platform Booking Fee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620452" y="4578801"/>
            <a:ext cx="5585222" cy="74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10%–15% transaction fee charged to guest traveller on each reserved slot.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982864" y="5444023"/>
            <a:ext cx="300438" cy="418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8EDF7"/>
                </a:solidFill>
                <a:latin typeface="Arial"/>
                <a:ea typeface="Arial"/>
                <a:cs typeface="Arial"/>
                <a:sym typeface="Arial"/>
              </a:rPr>
              <a:t>🏠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531933" y="5453548"/>
            <a:ext cx="2839879" cy="29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33D399"/>
                </a:solidFill>
                <a:latin typeface="Verdana Bold"/>
                <a:ea typeface="Verdana Bold"/>
                <a:cs typeface="Verdana Bold"/>
                <a:sym typeface="Verdana Bold"/>
              </a:rPr>
              <a:t>Host Revenue Spread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620452" y="5444023"/>
            <a:ext cx="5585222" cy="74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20%–22% platform cut deducted from host payouts (covering insurance &amp; hardware).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982864" y="6308693"/>
            <a:ext cx="300438" cy="418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8EDF7"/>
                </a:solidFill>
                <a:latin typeface="Arial"/>
                <a:ea typeface="Arial"/>
                <a:cs typeface="Arial"/>
                <a:sym typeface="Arial"/>
              </a:rPr>
              <a:t>💎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531933" y="6318218"/>
            <a:ext cx="2839879" cy="29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Driver Membership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620452" y="6308693"/>
            <a:ext cx="5585222" cy="74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$19.99/mo subscription unlocking priority booking, waived fees, and valet perks.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982864" y="7173373"/>
            <a:ext cx="300438" cy="418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8EDF7"/>
                </a:solidFill>
                <a:latin typeface="Arial"/>
                <a:ea typeface="Arial"/>
                <a:cs typeface="Arial"/>
                <a:sym typeface="Arial"/>
              </a:rPr>
              <a:t>🚌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531933" y="7182898"/>
            <a:ext cx="2839879" cy="29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FBBF23"/>
                </a:solidFill>
                <a:latin typeface="Verdana Bold"/>
                <a:ea typeface="Verdana Bold"/>
                <a:cs typeface="Verdana Bold"/>
                <a:sym typeface="Verdana Bold"/>
              </a:rPr>
              <a:t>Commercial Fleet SLAs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620452" y="7173373"/>
            <a:ext cx="5585222" cy="74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$120–$180/vehicle/mo bulk overnight charging contracts for delivery/ride-hail.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982864" y="8047568"/>
            <a:ext cx="300438" cy="40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⭐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531933" y="8047568"/>
            <a:ext cx="2839879" cy="29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93A1BA"/>
                </a:solidFill>
                <a:latin typeface="Verdana Bold"/>
                <a:ea typeface="Verdana Bold"/>
                <a:cs typeface="Verdana Bold"/>
                <a:sym typeface="Verdana Bold"/>
              </a:rPr>
              <a:t>Value-Add Services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620452" y="8038043"/>
            <a:ext cx="5585222" cy="74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$10–$30 per add-on: overnight windshield wash, tyre pressure, and battery diagnostics.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672017" y="9319851"/>
            <a:ext cx="16954129" cy="687962"/>
            <a:chOff x="0" y="0"/>
            <a:chExt cx="22605505" cy="91728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605492" cy="917321"/>
            </a:xfrm>
            <a:custGeom>
              <a:avLst/>
              <a:gdLst/>
              <a:ahLst/>
              <a:cxnLst/>
              <a:rect r="r" b="b" t="t" l="l"/>
              <a:pathLst>
                <a:path h="917321" w="22605492">
                  <a:moveTo>
                    <a:pt x="0" y="0"/>
                  </a:moveTo>
                  <a:lnTo>
                    <a:pt x="22605492" y="0"/>
                  </a:lnTo>
                  <a:lnTo>
                    <a:pt x="22605492" y="917321"/>
                  </a:lnTo>
                  <a:lnTo>
                    <a:pt x="0" y="9173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80C"/>
            </a:solidFill>
            <a:ln w="28642" cap="sq">
              <a:solidFill>
                <a:srgbClr val="FBBF23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982237" y="9424768"/>
            <a:ext cx="16292065" cy="468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i="true">
                <a:solidFill>
                  <a:srgbClr val="FBBF23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⚠  RESEARCH NOTE: Owned urban hubs deliver 32% EBITDA margins; distributed host chargers provide exponential geographic scale with near-zero CapEx.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2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6335" y="429244"/>
            <a:ext cx="16292065" cy="29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ROADMAP, BREAK-EVEN ODDS &amp; RESEARCH EVIDENCE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6335" y="758895"/>
            <a:ext cx="16744940" cy="56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2"/>
              </a:lnSpc>
            </a:pPr>
            <a:r>
              <a:rPr lang="en-US" sz="3152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Execution milestones paired with verified empirical industry research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6335" y="1417672"/>
            <a:ext cx="16744940" cy="34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93A1BA"/>
                </a:solidFill>
                <a:latin typeface="Verdana"/>
                <a:ea typeface="Verdana"/>
                <a:cs typeface="Verdana"/>
                <a:sym typeface="Verdana"/>
              </a:rPr>
              <a:t>5 probability-weighted rollout phases and 10 verified research citations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76875" y="1980914"/>
            <a:ext cx="8255489" cy="7088715"/>
            <a:chOff x="0" y="0"/>
            <a:chExt cx="11007319" cy="94516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07344" cy="9451594"/>
            </a:xfrm>
            <a:custGeom>
              <a:avLst/>
              <a:gdLst/>
              <a:ahLst/>
              <a:cxnLst/>
              <a:rect r="r" b="b" t="t" l="l"/>
              <a:pathLst>
                <a:path h="9451594" w="11007344">
                  <a:moveTo>
                    <a:pt x="0" y="0"/>
                  </a:moveTo>
                  <a:lnTo>
                    <a:pt x="11007344" y="0"/>
                  </a:lnTo>
                  <a:lnTo>
                    <a:pt x="11007344" y="9451594"/>
                  </a:lnTo>
                  <a:lnTo>
                    <a:pt x="0" y="94515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1425"/>
            </a:solidFill>
            <a:ln w="18915" cap="sq">
              <a:solidFill>
                <a:srgbClr val="1B2943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050874" y="2241280"/>
            <a:ext cx="7506967" cy="34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5-PHASE ROADMAP &amp; BREAK-EVEN ODDS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60872" y="2676716"/>
            <a:ext cx="7687504" cy="19460"/>
            <a:chOff x="0" y="0"/>
            <a:chExt cx="10250005" cy="259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50043" cy="25908"/>
            </a:xfrm>
            <a:custGeom>
              <a:avLst/>
              <a:gdLst/>
              <a:ahLst/>
              <a:cxnLst/>
              <a:rect r="r" b="b" t="t" l="l"/>
              <a:pathLst>
                <a:path h="25908" w="10250043">
                  <a:moveTo>
                    <a:pt x="0" y="0"/>
                  </a:moveTo>
                  <a:lnTo>
                    <a:pt x="10250043" y="0"/>
                  </a:lnTo>
                  <a:lnTo>
                    <a:pt x="10250043" y="25908"/>
                  </a:lnTo>
                  <a:lnTo>
                    <a:pt x="0" y="259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294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872" y="2964752"/>
            <a:ext cx="1167308" cy="480974"/>
            <a:chOff x="0" y="0"/>
            <a:chExt cx="1556410" cy="6412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6385" cy="641350"/>
            </a:xfrm>
            <a:custGeom>
              <a:avLst/>
              <a:gdLst/>
              <a:ahLst/>
              <a:cxnLst/>
              <a:rect r="r" b="b" t="t" l="l"/>
              <a:pathLst>
                <a:path h="641350" w="1556385">
                  <a:moveTo>
                    <a:pt x="0" y="0"/>
                  </a:moveTo>
                  <a:lnTo>
                    <a:pt x="1556385" y="0"/>
                  </a:lnTo>
                  <a:lnTo>
                    <a:pt x="1556385" y="641350"/>
                  </a:lnTo>
                  <a:lnTo>
                    <a:pt x="0" y="641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D3E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91946" y="3000232"/>
            <a:ext cx="904627" cy="39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621"/>
              </a:lnSpc>
            </a:pPr>
            <a:r>
              <a:rPr lang="en-US" b="true" sz="1351">
                <a:solidFill>
                  <a:srgbClr val="020611"/>
                </a:solidFill>
                <a:latin typeface="Verdana Bold"/>
                <a:ea typeface="Verdana Bold"/>
                <a:cs typeface="Verdana Bold"/>
                <a:sym typeface="Verdana Bold"/>
              </a:rPr>
              <a:t>Phase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54913" y="2927614"/>
            <a:ext cx="3251683" cy="29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Urban Concierge Pilot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54913" y="3270780"/>
            <a:ext cx="3663486" cy="66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1 owned hub + valet in 1 metro; 200 users. (CapEx: $650K)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314294" y="3047438"/>
            <a:ext cx="1785014" cy="302638"/>
            <a:chOff x="0" y="0"/>
            <a:chExt cx="2380018" cy="4035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79980" cy="403479"/>
            </a:xfrm>
            <a:custGeom>
              <a:avLst/>
              <a:gdLst/>
              <a:ahLst/>
              <a:cxnLst/>
              <a:rect r="r" b="b" t="t" l="l"/>
              <a:pathLst>
                <a:path h="403479" w="2379980">
                  <a:moveTo>
                    <a:pt x="0" y="0"/>
                  </a:moveTo>
                  <a:lnTo>
                    <a:pt x="2379980" y="0"/>
                  </a:lnTo>
                  <a:lnTo>
                    <a:pt x="2379980" y="403479"/>
                  </a:lnTo>
                  <a:lnTo>
                    <a:pt x="0" y="4034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294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314294" y="3047438"/>
            <a:ext cx="625269" cy="302638"/>
            <a:chOff x="0" y="0"/>
            <a:chExt cx="833692" cy="40351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33628" cy="403479"/>
            </a:xfrm>
            <a:custGeom>
              <a:avLst/>
              <a:gdLst/>
              <a:ahLst/>
              <a:cxnLst/>
              <a:rect r="r" b="b" t="t" l="l"/>
              <a:pathLst>
                <a:path h="403479" w="833628">
                  <a:moveTo>
                    <a:pt x="0" y="0"/>
                  </a:moveTo>
                  <a:lnTo>
                    <a:pt x="833628" y="0"/>
                  </a:lnTo>
                  <a:lnTo>
                    <a:pt x="833628" y="403479"/>
                  </a:lnTo>
                  <a:lnTo>
                    <a:pt x="0" y="4034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D3E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257403" y="3037322"/>
            <a:ext cx="506339" cy="30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35%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60872" y="4173141"/>
            <a:ext cx="1167308" cy="480974"/>
            <a:chOff x="0" y="0"/>
            <a:chExt cx="1556410" cy="6412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56385" cy="641350"/>
            </a:xfrm>
            <a:custGeom>
              <a:avLst/>
              <a:gdLst/>
              <a:ahLst/>
              <a:cxnLst/>
              <a:rect r="r" b="b" t="t" l="l"/>
              <a:pathLst>
                <a:path h="641350" w="1556385">
                  <a:moveTo>
                    <a:pt x="0" y="0"/>
                  </a:moveTo>
                  <a:lnTo>
                    <a:pt x="1556385" y="0"/>
                  </a:lnTo>
                  <a:lnTo>
                    <a:pt x="1556385" y="641350"/>
                  </a:lnTo>
                  <a:lnTo>
                    <a:pt x="0" y="641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D39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91946" y="4208612"/>
            <a:ext cx="904627" cy="39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621"/>
              </a:lnSpc>
            </a:pPr>
            <a:r>
              <a:rPr lang="en-US" b="true" sz="1351">
                <a:solidFill>
                  <a:srgbClr val="020611"/>
                </a:solidFill>
                <a:latin typeface="Verdana Bold"/>
                <a:ea typeface="Verdana Bold"/>
                <a:cs typeface="Verdana Bold"/>
                <a:sym typeface="Verdana Bold"/>
              </a:rPr>
              <a:t>Phase 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354913" y="4135460"/>
            <a:ext cx="3251683" cy="29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Multi-Family Apartment Sharing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54913" y="4478626"/>
            <a:ext cx="3663486" cy="66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250 host chargers in apartments (EVmatch model). (CapEx: $200K (MVP))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314294" y="4255284"/>
            <a:ext cx="1785014" cy="302638"/>
            <a:chOff x="0" y="0"/>
            <a:chExt cx="2380018" cy="40351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79980" cy="403479"/>
            </a:xfrm>
            <a:custGeom>
              <a:avLst/>
              <a:gdLst/>
              <a:ahLst/>
              <a:cxnLst/>
              <a:rect r="r" b="b" t="t" l="l"/>
              <a:pathLst>
                <a:path h="403479" w="2379980">
                  <a:moveTo>
                    <a:pt x="0" y="0"/>
                  </a:moveTo>
                  <a:lnTo>
                    <a:pt x="2379980" y="0"/>
                  </a:lnTo>
                  <a:lnTo>
                    <a:pt x="2379980" y="403479"/>
                  </a:lnTo>
                  <a:lnTo>
                    <a:pt x="0" y="4034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294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314294" y="4255284"/>
            <a:ext cx="714442" cy="302638"/>
            <a:chOff x="0" y="0"/>
            <a:chExt cx="952589" cy="40351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2627" cy="403479"/>
            </a:xfrm>
            <a:custGeom>
              <a:avLst/>
              <a:gdLst/>
              <a:ahLst/>
              <a:cxnLst/>
              <a:rect r="r" b="b" t="t" l="l"/>
              <a:pathLst>
                <a:path h="403479" w="952627">
                  <a:moveTo>
                    <a:pt x="0" y="0"/>
                  </a:moveTo>
                  <a:lnTo>
                    <a:pt x="952627" y="0"/>
                  </a:lnTo>
                  <a:lnTo>
                    <a:pt x="952627" y="403479"/>
                  </a:lnTo>
                  <a:lnTo>
                    <a:pt x="0" y="4034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D399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8257403" y="4245159"/>
            <a:ext cx="506339" cy="30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33D399"/>
                </a:solidFill>
                <a:latin typeface="Verdana Bold"/>
                <a:ea typeface="Verdana Bold"/>
                <a:cs typeface="Verdana Bold"/>
                <a:sym typeface="Verdana Bold"/>
              </a:rPr>
              <a:t>40%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60872" y="5380987"/>
            <a:ext cx="1167308" cy="480974"/>
            <a:chOff x="0" y="0"/>
            <a:chExt cx="1556410" cy="64129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56385" cy="641350"/>
            </a:xfrm>
            <a:custGeom>
              <a:avLst/>
              <a:gdLst/>
              <a:ahLst/>
              <a:cxnLst/>
              <a:rect r="r" b="b" t="t" l="l"/>
              <a:pathLst>
                <a:path h="641350" w="1556385">
                  <a:moveTo>
                    <a:pt x="0" y="0"/>
                  </a:moveTo>
                  <a:lnTo>
                    <a:pt x="1556385" y="0"/>
                  </a:lnTo>
                  <a:lnTo>
                    <a:pt x="1556385" y="641350"/>
                  </a:lnTo>
                  <a:lnTo>
                    <a:pt x="0" y="641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F23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91946" y="5416458"/>
            <a:ext cx="904627" cy="39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621"/>
              </a:lnSpc>
            </a:pPr>
            <a:r>
              <a:rPr lang="en-US" b="true" sz="1351">
                <a:solidFill>
                  <a:srgbClr val="020611"/>
                </a:solidFill>
                <a:latin typeface="Verdana Bold"/>
                <a:ea typeface="Verdana Bold"/>
                <a:cs typeface="Verdana Bold"/>
                <a:sym typeface="Verdana Bold"/>
              </a:rPr>
              <a:t>Phase 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354913" y="5343296"/>
            <a:ext cx="3251683" cy="29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Highway Corridor Network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354913" y="5686463"/>
            <a:ext cx="3663486" cy="66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75 hotel &amp; fuel plaza DC fast charging partners. (CapEx: $450K)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6314294" y="5463130"/>
            <a:ext cx="1785014" cy="302638"/>
            <a:chOff x="0" y="0"/>
            <a:chExt cx="2380018" cy="40351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379980" cy="403479"/>
            </a:xfrm>
            <a:custGeom>
              <a:avLst/>
              <a:gdLst/>
              <a:ahLst/>
              <a:cxnLst/>
              <a:rect r="r" b="b" t="t" l="l"/>
              <a:pathLst>
                <a:path h="403479" w="2379980">
                  <a:moveTo>
                    <a:pt x="0" y="0"/>
                  </a:moveTo>
                  <a:lnTo>
                    <a:pt x="2379980" y="0"/>
                  </a:lnTo>
                  <a:lnTo>
                    <a:pt x="2379980" y="403479"/>
                  </a:lnTo>
                  <a:lnTo>
                    <a:pt x="0" y="4034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2943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6314294" y="5463130"/>
            <a:ext cx="446932" cy="302638"/>
            <a:chOff x="0" y="0"/>
            <a:chExt cx="595909" cy="40351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95884" cy="403479"/>
            </a:xfrm>
            <a:custGeom>
              <a:avLst/>
              <a:gdLst/>
              <a:ahLst/>
              <a:cxnLst/>
              <a:rect r="r" b="b" t="t" l="l"/>
              <a:pathLst>
                <a:path h="403479" w="595884">
                  <a:moveTo>
                    <a:pt x="0" y="0"/>
                  </a:moveTo>
                  <a:lnTo>
                    <a:pt x="595884" y="0"/>
                  </a:lnTo>
                  <a:lnTo>
                    <a:pt x="595884" y="403479"/>
                  </a:lnTo>
                  <a:lnTo>
                    <a:pt x="0" y="4034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F23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8257403" y="5453548"/>
            <a:ext cx="506339" cy="30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FBBF23"/>
                </a:solidFill>
                <a:latin typeface="Verdana Bold"/>
                <a:ea typeface="Verdana Bold"/>
                <a:cs typeface="Verdana Bold"/>
                <a:sym typeface="Verdana Bold"/>
              </a:rPr>
              <a:t>25%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60872" y="6588824"/>
            <a:ext cx="1167308" cy="480974"/>
            <a:chOff x="0" y="0"/>
            <a:chExt cx="1556410" cy="64129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56385" cy="641350"/>
            </a:xfrm>
            <a:custGeom>
              <a:avLst/>
              <a:gdLst/>
              <a:ahLst/>
              <a:cxnLst/>
              <a:rect r="r" b="b" t="t" l="l"/>
              <a:pathLst>
                <a:path h="641350" w="1556385">
                  <a:moveTo>
                    <a:pt x="0" y="0"/>
                  </a:moveTo>
                  <a:lnTo>
                    <a:pt x="1556385" y="0"/>
                  </a:lnTo>
                  <a:lnTo>
                    <a:pt x="1556385" y="641350"/>
                  </a:lnTo>
                  <a:lnTo>
                    <a:pt x="0" y="641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D3EE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091946" y="6624304"/>
            <a:ext cx="904627" cy="39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621"/>
              </a:lnSpc>
            </a:pPr>
            <a:r>
              <a:rPr lang="en-US" b="true" sz="1351">
                <a:solidFill>
                  <a:srgbClr val="020611"/>
                </a:solidFill>
                <a:latin typeface="Verdana Bold"/>
                <a:ea typeface="Verdana Bold"/>
                <a:cs typeface="Verdana Bold"/>
                <a:sym typeface="Verdana Bold"/>
              </a:rPr>
              <a:t>Phase 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354913" y="6551686"/>
            <a:ext cx="3251683" cy="29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Regional Scale-Up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354913" y="6894852"/>
            <a:ext cx="3663486" cy="66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10 urban hubs, 2,500 hosts, membership tiers. (CapEx: $3.5M)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6314294" y="6670967"/>
            <a:ext cx="1785014" cy="302638"/>
            <a:chOff x="0" y="0"/>
            <a:chExt cx="2380018" cy="40351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379980" cy="403479"/>
            </a:xfrm>
            <a:custGeom>
              <a:avLst/>
              <a:gdLst/>
              <a:ahLst/>
              <a:cxnLst/>
              <a:rect r="r" b="b" t="t" l="l"/>
              <a:pathLst>
                <a:path h="403479" w="2379980">
                  <a:moveTo>
                    <a:pt x="0" y="0"/>
                  </a:moveTo>
                  <a:lnTo>
                    <a:pt x="2379980" y="0"/>
                  </a:lnTo>
                  <a:lnTo>
                    <a:pt x="2379980" y="403479"/>
                  </a:lnTo>
                  <a:lnTo>
                    <a:pt x="0" y="4034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2943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314294" y="6670967"/>
            <a:ext cx="357216" cy="302638"/>
            <a:chOff x="0" y="0"/>
            <a:chExt cx="476288" cy="40351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76250" cy="403479"/>
            </a:xfrm>
            <a:custGeom>
              <a:avLst/>
              <a:gdLst/>
              <a:ahLst/>
              <a:cxnLst/>
              <a:rect r="r" b="b" t="t" l="l"/>
              <a:pathLst>
                <a:path h="403479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403479"/>
                  </a:lnTo>
                  <a:lnTo>
                    <a:pt x="0" y="4034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D3EE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8257403" y="6661385"/>
            <a:ext cx="506339" cy="30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20%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60872" y="7796670"/>
            <a:ext cx="1167308" cy="480974"/>
            <a:chOff x="0" y="0"/>
            <a:chExt cx="1556410" cy="64129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56385" cy="641350"/>
            </a:xfrm>
            <a:custGeom>
              <a:avLst/>
              <a:gdLst/>
              <a:ahLst/>
              <a:cxnLst/>
              <a:rect r="r" b="b" t="t" l="l"/>
              <a:pathLst>
                <a:path h="641350" w="1556385">
                  <a:moveTo>
                    <a:pt x="0" y="0"/>
                  </a:moveTo>
                  <a:lnTo>
                    <a:pt x="1556385" y="0"/>
                  </a:lnTo>
                  <a:lnTo>
                    <a:pt x="1556385" y="641350"/>
                  </a:lnTo>
                  <a:lnTo>
                    <a:pt x="0" y="6413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D399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091946" y="7832150"/>
            <a:ext cx="904627" cy="399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1621"/>
              </a:lnSpc>
            </a:pPr>
            <a:r>
              <a:rPr lang="en-US" b="true" sz="1351">
                <a:solidFill>
                  <a:srgbClr val="020611"/>
                </a:solidFill>
                <a:latin typeface="Verdana Bold"/>
                <a:ea typeface="Verdana Bold"/>
                <a:cs typeface="Verdana Bold"/>
                <a:sym typeface="Verdana Bold"/>
              </a:rPr>
              <a:t>Phase 5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354913" y="7759532"/>
            <a:ext cx="3251683" cy="294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Enterprise Fleet SLAs &amp; V2G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354913" y="8102698"/>
            <a:ext cx="3663486" cy="664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Commercial fleet contracts; V2G utility integration. (Series B Raise)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6314294" y="7879356"/>
            <a:ext cx="1785014" cy="302638"/>
            <a:chOff x="0" y="0"/>
            <a:chExt cx="2380018" cy="40351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379980" cy="403479"/>
            </a:xfrm>
            <a:custGeom>
              <a:avLst/>
              <a:gdLst/>
              <a:ahLst/>
              <a:cxnLst/>
              <a:rect r="r" b="b" t="t" l="l"/>
              <a:pathLst>
                <a:path h="403479" w="2379980">
                  <a:moveTo>
                    <a:pt x="0" y="0"/>
                  </a:moveTo>
                  <a:lnTo>
                    <a:pt x="2379980" y="0"/>
                  </a:lnTo>
                  <a:lnTo>
                    <a:pt x="2379980" y="403479"/>
                  </a:lnTo>
                  <a:lnTo>
                    <a:pt x="0" y="4034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2943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6314294" y="7879356"/>
            <a:ext cx="268053" cy="302638"/>
            <a:chOff x="0" y="0"/>
            <a:chExt cx="357403" cy="40351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57378" cy="403479"/>
            </a:xfrm>
            <a:custGeom>
              <a:avLst/>
              <a:gdLst/>
              <a:ahLst/>
              <a:cxnLst/>
              <a:rect r="r" b="b" t="t" l="l"/>
              <a:pathLst>
                <a:path h="403479" w="357378">
                  <a:moveTo>
                    <a:pt x="0" y="0"/>
                  </a:moveTo>
                  <a:lnTo>
                    <a:pt x="357378" y="0"/>
                  </a:lnTo>
                  <a:lnTo>
                    <a:pt x="357378" y="403479"/>
                  </a:lnTo>
                  <a:lnTo>
                    <a:pt x="0" y="4034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D399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8257403" y="7869231"/>
            <a:ext cx="506339" cy="30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33D399"/>
                </a:solidFill>
                <a:latin typeface="Verdana Bold"/>
                <a:ea typeface="Verdana Bold"/>
                <a:cs typeface="Verdana Bold"/>
                <a:sym typeface="Verdana Bold"/>
              </a:rPr>
              <a:t>15%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9187444" y="1980914"/>
            <a:ext cx="8433826" cy="7088715"/>
            <a:chOff x="0" y="0"/>
            <a:chExt cx="11245101" cy="945161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245088" cy="9451594"/>
            </a:xfrm>
            <a:custGeom>
              <a:avLst/>
              <a:gdLst/>
              <a:ahLst/>
              <a:cxnLst/>
              <a:rect r="r" b="b" t="t" l="l"/>
              <a:pathLst>
                <a:path h="9451594" w="11245088">
                  <a:moveTo>
                    <a:pt x="0" y="0"/>
                  </a:moveTo>
                  <a:lnTo>
                    <a:pt x="11245088" y="0"/>
                  </a:lnTo>
                  <a:lnTo>
                    <a:pt x="11245088" y="9451594"/>
                  </a:lnTo>
                  <a:lnTo>
                    <a:pt x="0" y="94515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1425"/>
            </a:solidFill>
            <a:ln w="18915" cap="sq">
              <a:solidFill>
                <a:srgbClr val="1B2943"/>
              </a:solidFill>
              <a:prstDash val="solid"/>
              <a:miter/>
            </a:ln>
          </p:spPr>
        </p:sp>
      </p:grpSp>
      <p:sp>
        <p:nvSpPr>
          <p:cNvPr name="TextBox 62" id="62"/>
          <p:cNvSpPr txBox="true"/>
          <p:nvPr/>
        </p:nvSpPr>
        <p:spPr>
          <a:xfrm rot="0">
            <a:off x="9561443" y="2241280"/>
            <a:ext cx="7644232" cy="34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10 CORE RESEARCH CITATIONS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9471441" y="2676716"/>
            <a:ext cx="7824768" cy="19460"/>
            <a:chOff x="0" y="0"/>
            <a:chExt cx="10433025" cy="2594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433050" cy="25908"/>
            </a:xfrm>
            <a:custGeom>
              <a:avLst/>
              <a:gdLst/>
              <a:ahLst/>
              <a:cxnLst/>
              <a:rect r="r" b="b" t="t" l="l"/>
              <a:pathLst>
                <a:path h="25908" w="10433050">
                  <a:moveTo>
                    <a:pt x="0" y="0"/>
                  </a:moveTo>
                  <a:lnTo>
                    <a:pt x="10433050" y="0"/>
                  </a:lnTo>
                  <a:lnTo>
                    <a:pt x="10433050" y="25908"/>
                  </a:lnTo>
                  <a:lnTo>
                    <a:pt x="0" y="259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B2943"/>
            </a:solidFill>
          </p:spPr>
        </p:sp>
      </p:grpSp>
      <p:sp>
        <p:nvSpPr>
          <p:cNvPr name="TextBox 65" id="65"/>
          <p:cNvSpPr txBox="true"/>
          <p:nvPr/>
        </p:nvSpPr>
        <p:spPr>
          <a:xfrm rot="0">
            <a:off x="9561443" y="2858976"/>
            <a:ext cx="2839879" cy="260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• J.D. Power (2024):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581315" y="2858976"/>
            <a:ext cx="4624349" cy="48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Public EV Charging Study: Failed attempts fell to 12% (down from 14%); non-Tesla fail rate 52.4%.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561443" y="3463166"/>
            <a:ext cx="2839879" cy="260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• Zapmap &amp; US DOE (2024):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581315" y="3463166"/>
            <a:ext cx="4624349" cy="48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~20% of UK EV drivers lack home chargers; 82% of US multi-family residents have no in-building charging.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561443" y="4066823"/>
            <a:ext cx="2839879" cy="475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• Frontiers in Sustainable Cities (2026):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581315" y="4066823"/>
            <a:ext cx="4624349" cy="48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UK P2P sharing has ~9,000 hosts (&lt;1% EV drivers); privacy and thin demand are main barriers.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561443" y="4671012"/>
            <a:ext cx="2839879" cy="260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• EVmatch Case Study: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581315" y="4671012"/>
            <a:ext cx="4624349" cy="48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124 chargers across 21 California apartment complexes generated 6,200+ annual sessions (~1/charger/week).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561443" y="5274669"/>
            <a:ext cx="2839879" cy="260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• CBInsights / Luxe Post-Mortem: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581315" y="5274669"/>
            <a:ext cx="4624349" cy="48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Nightly valet failed over labour unit economics; validates weekly subscription model as viable path.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561443" y="5878859"/>
            <a:ext cx="2839879" cy="260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• NREL Highway Study (2024):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581315" y="5878859"/>
            <a:ext cx="4624349" cy="48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Mapped corridor charging deserts; hotel-located chargers scored highest in dwell-time satisfaction.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561443" y="6483048"/>
            <a:ext cx="2839879" cy="260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• Autoparkit Whitepaper: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2581315" y="6483048"/>
            <a:ext cx="4624349" cy="48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Automated parking stackers double density (~2×); carousels go higher but carry single-point failure risk.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561443" y="7086705"/>
            <a:ext cx="2839879" cy="260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• Myenergi &amp; Alibaba Guides: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2581315" y="7086705"/>
            <a:ext cx="4624349" cy="48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Mass-market EVs max at 11 kW AC charging; 22 kW AC adds cost with zero overnight benefit.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9561443" y="7690895"/>
            <a:ext cx="2839879" cy="260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• Charging Physics (Verified):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2581315" y="7690895"/>
            <a:ext cx="4624349" cy="48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45-min at 7.4 kW yields 5.5 kWh (~20 mi range). Fast DC charging required for highway corridor segments.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561443" y="8294541"/>
            <a:ext cx="2839879" cy="260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21D3EE"/>
                </a:solidFill>
                <a:latin typeface="Verdana Bold"/>
                <a:ea typeface="Verdana Bold"/>
                <a:cs typeface="Verdana Bold"/>
                <a:sym typeface="Verdana Bold"/>
              </a:rPr>
              <a:t>• Probability Methodology: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2581315" y="8294541"/>
            <a:ext cx="4624349" cy="486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E8EDF7"/>
                </a:solidFill>
                <a:latin typeface="Verdana"/>
                <a:ea typeface="Verdana"/>
                <a:cs typeface="Verdana"/>
                <a:sym typeface="Verdana"/>
              </a:rPr>
              <a:t>Break-even odds reflect author's synthesis of unit economics, utilization benchmarks, and startup survival data.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672017" y="9319851"/>
            <a:ext cx="16954129" cy="687962"/>
            <a:chOff x="0" y="0"/>
            <a:chExt cx="22605505" cy="91728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2605492" cy="917321"/>
            </a:xfrm>
            <a:custGeom>
              <a:avLst/>
              <a:gdLst/>
              <a:ahLst/>
              <a:cxnLst/>
              <a:rect r="r" b="b" t="t" l="l"/>
              <a:pathLst>
                <a:path h="917321" w="22605492">
                  <a:moveTo>
                    <a:pt x="0" y="0"/>
                  </a:moveTo>
                  <a:lnTo>
                    <a:pt x="22605492" y="0"/>
                  </a:lnTo>
                  <a:lnTo>
                    <a:pt x="22605492" y="917321"/>
                  </a:lnTo>
                  <a:lnTo>
                    <a:pt x="0" y="9173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80C"/>
            </a:solidFill>
            <a:ln w="28642" cap="sq">
              <a:solidFill>
                <a:srgbClr val="FBBF23"/>
              </a:solidFill>
              <a:prstDash val="solid"/>
              <a:miter/>
            </a:ln>
          </p:spPr>
        </p:sp>
      </p:grpSp>
      <p:sp>
        <p:nvSpPr>
          <p:cNvPr name="TextBox 87" id="87"/>
          <p:cNvSpPr txBox="true"/>
          <p:nvPr/>
        </p:nvSpPr>
        <p:spPr>
          <a:xfrm rot="0">
            <a:off x="982237" y="9424768"/>
            <a:ext cx="16292065" cy="52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i="true">
                <a:solidFill>
                  <a:srgbClr val="FBBF23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⚠  RESEARCH NOTE: Lead with Phase 2 (Apartment community sharing — EVmatch model). Treat valet as a high-margin concierge tier. Partner with hotels and fuel plazas for fast DC corridor charging.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78283" cy="10287000"/>
          </a:xfrm>
          <a:custGeom>
            <a:avLst/>
            <a:gdLst/>
            <a:ahLst/>
            <a:cxnLst/>
            <a:rect r="r" b="b" t="t" l="l"/>
            <a:pathLst>
              <a:path h="10287000" w="18278283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78283" cy="10287000"/>
          </a:xfrm>
          <a:custGeom>
            <a:avLst/>
            <a:gdLst/>
            <a:ahLst/>
            <a:cxnLst/>
            <a:rect r="r" b="b" t="t" l="l"/>
            <a:pathLst>
              <a:path h="10287000" w="18278283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06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DAHYuJD3p0U</dc:identifier>
  <dcterms:modified xsi:type="dcterms:W3CDTF">2011-08-01T06:04:30Z</dcterms:modified>
  <cp:revision>1</cp:revision>
  <dc:title>EV_Charging_Network_7_Slides (1).key</dc:title>
</cp:coreProperties>
</file>