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206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5943600" cy="2011680"/>
          </a:xfrm>
          <a:prstGeom prst="rect">
            <a:avLst/>
          </a:prstGeom>
          <a:noFill/>
        </p:spPr>
        <p:txBody>
          <a:bodyPr wrap="square" lIns="0" tIns="0" rIns="0" bIns="0">
            <a:spAutoFit/>
          </a:bodyPr>
          <a:lstStyle/>
          <a:p>
            <a:pPr>
              <a:spcAft>
                <a:spcPts val="400"/>
              </a:spcAft>
              <a:defRPr sz="1000" b="1">
                <a:solidFill>
                  <a:srgbClr val="22D3EE"/>
                </a:solidFill>
              </a:defRPr>
            </a:pPr>
            <a:r>
              <a:t>TECHNICAL ARCHITECTURE DECK</a:t>
            </a:r>
          </a:p>
          <a:p>
            <a:pPr>
              <a:spcAft>
                <a:spcPts val="400"/>
              </a:spcAft>
              <a:defRPr sz="3600" b="1">
                <a:solidFill>
                  <a:srgbClr val="FFFFFF"/>
                </a:solidFill>
              </a:defRPr>
            </a:pPr>
            <a:r>
              <a:t>EV CHARGING NETWORK</a:t>
            </a:r>
          </a:p>
          <a:p>
            <a:pPr>
              <a:defRPr sz="1400">
                <a:solidFill>
                  <a:srgbClr val="94A3B8"/>
                </a:solidFill>
              </a:defRPr>
            </a:pPr>
            <a:r>
              <a:t>A secure, convenient and scalable charging ecosystem</a:t>
            </a:r>
          </a:p>
        </p:txBody>
      </p:sp>
      <p:sp>
        <p:nvSpPr>
          <p:cNvPr id="4" name="Rounded Rectangle 3"/>
          <p:cNvSpPr/>
          <p:nvPr/>
        </p:nvSpPr>
        <p:spPr>
          <a:xfrm>
            <a:off x="731520" y="2834640"/>
            <a:ext cx="5852160" cy="68580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944368"/>
            <a:ext cx="5486400" cy="457200"/>
          </a:xfrm>
          <a:prstGeom prst="rect">
            <a:avLst/>
          </a:prstGeom>
          <a:noFill/>
        </p:spPr>
        <p:txBody>
          <a:bodyPr wrap="square" lIns="0" tIns="0" rIns="0" bIns="0">
            <a:spAutoFit/>
          </a:bodyPr>
          <a:lstStyle/>
          <a:p>
            <a:pPr>
              <a:defRPr sz="1150" b="1">
                <a:solidFill>
                  <a:srgbClr val="67E8F9"/>
                </a:solidFill>
              </a:defRPr>
            </a:pPr>
            <a:r>
              <a:t>"YOU DON'T NEED TO FIND A CHARGER. WE BRING CHARGING TO YOU."</a:t>
            </a:r>
          </a:p>
        </p:txBody>
      </p:sp>
      <p:sp>
        <p:nvSpPr>
          <p:cNvPr id="6" name="Rounded Rectangle 5"/>
          <p:cNvSpPr/>
          <p:nvPr/>
        </p:nvSpPr>
        <p:spPr>
          <a:xfrm>
            <a:off x="731520" y="3703320"/>
            <a:ext cx="2834640" cy="182880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3840480"/>
            <a:ext cx="2560320" cy="1554480"/>
          </a:xfrm>
          <a:prstGeom prst="rect">
            <a:avLst/>
          </a:prstGeom>
          <a:noFill/>
        </p:spPr>
        <p:txBody>
          <a:bodyPr wrap="square" lIns="0" tIns="0" rIns="0" bIns="0">
            <a:spAutoFit/>
          </a:bodyPr>
          <a:lstStyle/>
          <a:p>
            <a:pPr>
              <a:defRPr sz="950" b="1">
                <a:solidFill>
                  <a:srgbClr val="22D3EE"/>
                </a:solidFill>
              </a:defRPr>
            </a:pPr>
            <a:r>
              <a:t>MODEL 1 : URBAN</a:t>
            </a:r>
          </a:p>
          <a:p>
            <a:pPr>
              <a:spcBef>
                <a:spcPts val="200"/>
              </a:spcBef>
              <a:spcAft>
                <a:spcPts val="400"/>
              </a:spcAft>
              <a:defRPr sz="1300" b="1">
                <a:solidFill>
                  <a:srgbClr val="FFFFFF"/>
                </a:solidFill>
              </a:defRPr>
            </a:pPr>
            <a:r>
              <a:t>Charging Hub + Valet</a:t>
            </a:r>
          </a:p>
          <a:p>
            <a:pPr>
              <a:defRPr sz="1000">
                <a:solidFill>
                  <a:srgbClr val="CBD5E1"/>
                </a:solidFill>
              </a:defRPr>
            </a:pPr>
            <a:r>
              <a:t>Vertical parking towers with dedicated chargers &amp; solar. Scheduled evening pickup and 7:00 AM delivery.</a:t>
            </a:r>
          </a:p>
        </p:txBody>
      </p:sp>
      <p:sp>
        <p:nvSpPr>
          <p:cNvPr id="8" name="Rounded Rectangle 7"/>
          <p:cNvSpPr/>
          <p:nvPr/>
        </p:nvSpPr>
        <p:spPr>
          <a:xfrm>
            <a:off x="3749039" y="3703320"/>
            <a:ext cx="2834640" cy="182880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886200" y="3840480"/>
            <a:ext cx="2560320" cy="1554480"/>
          </a:xfrm>
          <a:prstGeom prst="rect">
            <a:avLst/>
          </a:prstGeom>
          <a:noFill/>
        </p:spPr>
        <p:txBody>
          <a:bodyPr wrap="square" lIns="0" tIns="0" rIns="0" bIns="0">
            <a:spAutoFit/>
          </a:bodyPr>
          <a:lstStyle/>
          <a:p>
            <a:pPr>
              <a:defRPr sz="950" b="1">
                <a:solidFill>
                  <a:srgbClr val="94A3B8"/>
                </a:solidFill>
              </a:defRPr>
            </a:pPr>
            <a:r>
              <a:t>MODEL 2 : HIGHWAY</a:t>
            </a:r>
          </a:p>
          <a:p>
            <a:pPr>
              <a:spcBef>
                <a:spcPts val="200"/>
              </a:spcBef>
              <a:spcAft>
                <a:spcPts val="400"/>
              </a:spcAft>
              <a:defRPr sz="1300" b="1">
                <a:solidFill>
                  <a:srgbClr val="FFFFFF"/>
                </a:solidFill>
              </a:defRPr>
            </a:pPr>
            <a:r>
              <a:t>Secure Distributed</a:t>
            </a:r>
          </a:p>
          <a:p>
            <a:pPr>
              <a:defRPr sz="1000">
                <a:solidFill>
                  <a:srgbClr val="CBD5E1"/>
                </a:solidFill>
              </a:defRPr>
            </a:pPr>
            <a:r>
              <a:t>Verified host network with smart lock &amp; virtual security. Monetizes private residential &amp; commercial EVSEs.</a:t>
            </a:r>
          </a:p>
        </p:txBody>
      </p:sp>
      <p:sp>
        <p:nvSpPr>
          <p:cNvPr id="10" name="TextBox 9"/>
          <p:cNvSpPr txBox="1"/>
          <p:nvPr/>
        </p:nvSpPr>
        <p:spPr>
          <a:xfrm>
            <a:off x="731520" y="5669280"/>
            <a:ext cx="5852160" cy="365760"/>
          </a:xfrm>
          <a:prstGeom prst="rect">
            <a:avLst/>
          </a:prstGeom>
          <a:noFill/>
        </p:spPr>
        <p:txBody>
          <a:bodyPr wrap="square" lIns="0" tIns="0" rIns="0" bIns="0">
            <a:spAutoFit/>
          </a:bodyPr>
          <a:lstStyle/>
          <a:p>
            <a:pPr>
              <a:defRPr sz="950">
                <a:solidFill>
                  <a:srgbClr val="64748B"/>
                </a:solidFill>
              </a:defRPr>
            </a:pPr>
            <a:r>
              <a:t>Dual-model architecture unifies high-density urban demand with distributed highway long-distance transit.</a:t>
            </a:r>
          </a:p>
        </p:txBody>
      </p:sp>
      <p:pic>
        <p:nvPicPr>
          <p:cNvPr id="11" name="Picture 10" descr="ev_charging_hero_5.03x5.25.jpg"/>
          <p:cNvPicPr>
            <a:picLocks noChangeAspect="1"/>
          </p:cNvPicPr>
          <p:nvPr/>
        </p:nvPicPr>
        <p:blipFill>
          <a:blip r:embed="rId2"/>
          <a:stretch>
            <a:fillRect/>
          </a:stretch>
        </p:blipFill>
        <p:spPr>
          <a:xfrm>
            <a:off x="6858000" y="731520"/>
            <a:ext cx="4602175" cy="4800600"/>
          </a:xfrm>
          <a:prstGeom prst="rect">
            <a:avLst/>
          </a:prstGeom>
        </p:spPr>
      </p:pic>
      <p:sp>
        <p:nvSpPr>
          <p:cNvPr id="12" name="Rectangle 11"/>
          <p:cNvSpPr/>
          <p:nvPr/>
        </p:nvSpPr>
        <p:spPr>
          <a:xfrm>
            <a:off x="6858000" y="731520"/>
            <a:ext cx="4602175" cy="4800600"/>
          </a:xfrm>
          <a:prstGeom prst="rect">
            <a:avLst/>
          </a:prstGeom>
          <a:no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995160" y="4709159"/>
            <a:ext cx="4327855" cy="68580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0" y="4782312"/>
            <a:ext cx="4053535" cy="539496"/>
          </a:xfrm>
          <a:prstGeom prst="rect">
            <a:avLst/>
          </a:prstGeom>
          <a:noFill/>
        </p:spPr>
        <p:txBody>
          <a:bodyPr wrap="square" lIns="0" tIns="0" rIns="0" bIns="0">
            <a:spAutoFit/>
          </a:bodyPr>
          <a:lstStyle/>
          <a:p>
            <a:pPr>
              <a:defRPr sz="850" b="1">
                <a:solidFill>
                  <a:srgbClr val="22D3EE"/>
                </a:solidFill>
              </a:defRPr>
            </a:pPr>
            <a:r>
              <a:t>INFRASTRUCTURE VISION</a:t>
            </a:r>
          </a:p>
          <a:p>
            <a:pPr>
              <a:spcBef>
                <a:spcPts val="200"/>
              </a:spcBef>
              <a:defRPr sz="950">
                <a:solidFill>
                  <a:srgbClr val="FFFFFF"/>
                </a:solidFill>
              </a:defRPr>
            </a:pPr>
            <a:r>
              <a:t>Coordinated automated charging for urban &amp; highway mobility.</a:t>
            </a:r>
          </a:p>
        </p:txBody>
      </p:sp>
      <p:sp>
        <p:nvSpPr>
          <p:cNvPr id="15" name="TextBox 14"/>
          <p:cNvSpPr txBox="1"/>
          <p:nvPr/>
        </p:nvSpPr>
        <p:spPr>
          <a:xfrm>
            <a:off x="731520" y="6446520"/>
            <a:ext cx="10728655" cy="274320"/>
          </a:xfrm>
          <a:prstGeom prst="rect">
            <a:avLst/>
          </a:prstGeom>
          <a:noFill/>
        </p:spPr>
        <p:txBody>
          <a:bodyPr wrap="none" lIns="0" tIns="0" rIns="0" bIns="0">
            <a:spAutoFit/>
          </a:bodyPr>
          <a:lstStyle/>
          <a:p>
            <a:pPr>
              <a:defRPr sz="900">
                <a:solidFill>
                  <a:srgbClr val="475569"/>
                </a:solidFill>
              </a:defRPr>
            </a:pPr>
            <a:r>
              <a:t>EV CHARGING NETWORK : Slide 01 of 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206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728655" cy="868680"/>
          </a:xfrm>
          <a:prstGeom prst="rect">
            <a:avLst/>
          </a:prstGeom>
          <a:noFill/>
        </p:spPr>
        <p:txBody>
          <a:bodyPr wrap="square" lIns="0" tIns="0" rIns="0" bIns="0">
            <a:spAutoFit/>
          </a:bodyPr>
          <a:lstStyle/>
          <a:p>
            <a:pPr>
              <a:spcAft>
                <a:spcPts val="200"/>
              </a:spcAft>
              <a:defRPr sz="1000" b="1">
                <a:solidFill>
                  <a:srgbClr val="22D3EE"/>
                </a:solidFill>
              </a:defRPr>
            </a:pPr>
            <a:r>
              <a:t>01 : PROBLEM</a:t>
            </a:r>
          </a:p>
          <a:p>
            <a:pPr>
              <a:spcAft>
                <a:spcPts val="200"/>
              </a:spcAft>
              <a:defRPr sz="2200" b="1">
                <a:solidFill>
                  <a:srgbClr val="FFFFFF"/>
                </a:solidFill>
              </a:defRPr>
            </a:pPr>
            <a:r>
              <a:t>The problem in one picture</a:t>
            </a:r>
          </a:p>
          <a:p>
            <a:pPr>
              <a:defRPr sz="1100">
                <a:solidFill>
                  <a:srgbClr val="94A3B8"/>
                </a:solidFill>
              </a:defRPr>
            </a:pPr>
            <a:r>
              <a:t>Empirical friction in urban EV ownership and long-distance travel</a:t>
            </a:r>
          </a:p>
        </p:txBody>
      </p:sp>
      <p:sp>
        <p:nvSpPr>
          <p:cNvPr id="4" name="Rounded Rectangle 3"/>
          <p:cNvSpPr/>
          <p:nvPr/>
        </p:nvSpPr>
        <p:spPr>
          <a:xfrm>
            <a:off x="731520" y="1463040"/>
            <a:ext cx="5852160" cy="123444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72768"/>
            <a:ext cx="5486400" cy="1005840"/>
          </a:xfrm>
          <a:prstGeom prst="rect">
            <a:avLst/>
          </a:prstGeom>
          <a:noFill/>
        </p:spPr>
        <p:txBody>
          <a:bodyPr wrap="square" lIns="0" tIns="0" rIns="0" bIns="0">
            <a:spAutoFit/>
          </a:bodyPr>
          <a:lstStyle/>
          <a:p>
            <a:pPr>
              <a:defRPr sz="950" b="1">
                <a:solidFill>
                  <a:srgbClr val="22D3EE"/>
                </a:solidFill>
              </a:defRPr>
            </a:pPr>
            <a:r>
              <a:t>[ Node 01 ] Apartment</a:t>
            </a:r>
          </a:p>
          <a:p>
            <a:pPr>
              <a:spcBef>
                <a:spcPts val="100"/>
              </a:spcBef>
              <a:spcAft>
                <a:spcPts val="200"/>
              </a:spcAft>
              <a:defRPr sz="1250" b="1">
                <a:solidFill>
                  <a:srgbClr val="FFFFFF"/>
                </a:solidFill>
              </a:defRPr>
            </a:pPr>
            <a:r>
              <a:t>No Dedicated Charger</a:t>
            </a:r>
          </a:p>
          <a:p>
            <a:pPr>
              <a:defRPr sz="1000">
                <a:solidFill>
                  <a:srgbClr val="CBD5E1"/>
                </a:solidFill>
              </a:defRPr>
            </a:pPr>
            <a:r>
              <a:t>Shared garages lack dedicated 240V circuits. Level 1 outlet adds only 4 miles/hr; full recharge requires 40+ hours.</a:t>
            </a:r>
          </a:p>
        </p:txBody>
      </p:sp>
      <p:sp>
        <p:nvSpPr>
          <p:cNvPr id="6" name="Rounded Rectangle 5"/>
          <p:cNvSpPr/>
          <p:nvPr/>
        </p:nvSpPr>
        <p:spPr>
          <a:xfrm>
            <a:off x="731520" y="2788920"/>
            <a:ext cx="5852160" cy="123444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898648"/>
            <a:ext cx="5486400" cy="1005840"/>
          </a:xfrm>
          <a:prstGeom prst="rect">
            <a:avLst/>
          </a:prstGeom>
          <a:noFill/>
        </p:spPr>
        <p:txBody>
          <a:bodyPr wrap="square" lIns="0" tIns="0" rIns="0" bIns="0">
            <a:spAutoFit/>
          </a:bodyPr>
          <a:lstStyle/>
          <a:p>
            <a:pPr>
              <a:defRPr sz="950" b="1">
                <a:solidFill>
                  <a:srgbClr val="22D3EE"/>
                </a:solidFill>
              </a:defRPr>
            </a:pPr>
            <a:r>
              <a:t>[ Node 02 ] EV OWNER</a:t>
            </a:r>
          </a:p>
          <a:p>
            <a:pPr>
              <a:spcBef>
                <a:spcPts val="100"/>
              </a:spcBef>
              <a:spcAft>
                <a:spcPts val="200"/>
              </a:spcAft>
              <a:defRPr sz="1250" b="1">
                <a:solidFill>
                  <a:srgbClr val="FFFFFF"/>
                </a:solidFill>
              </a:defRPr>
            </a:pPr>
            <a:r>
              <a:t>Needs Routine Charging</a:t>
            </a:r>
          </a:p>
          <a:p>
            <a:pPr>
              <a:defRPr sz="1000">
                <a:solidFill>
                  <a:srgbClr val="CBD5E1"/>
                </a:solidFill>
              </a:defRPr>
            </a:pPr>
            <a:r>
              <a:t>Requires predictable schedule without losing 3-4 hours every week sitting at crowded public charging hubs.</a:t>
            </a:r>
          </a:p>
        </p:txBody>
      </p:sp>
      <p:sp>
        <p:nvSpPr>
          <p:cNvPr id="8" name="Rounded Rectangle 7"/>
          <p:cNvSpPr/>
          <p:nvPr/>
        </p:nvSpPr>
        <p:spPr>
          <a:xfrm>
            <a:off x="731520" y="4114800"/>
            <a:ext cx="5852160" cy="123444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224528"/>
            <a:ext cx="5486400" cy="1005840"/>
          </a:xfrm>
          <a:prstGeom prst="rect">
            <a:avLst/>
          </a:prstGeom>
          <a:noFill/>
        </p:spPr>
        <p:txBody>
          <a:bodyPr wrap="square" lIns="0" tIns="0" rIns="0" bIns="0">
            <a:spAutoFit/>
          </a:bodyPr>
          <a:lstStyle/>
          <a:p>
            <a:pPr>
              <a:defRPr sz="950" b="1">
                <a:solidFill>
                  <a:srgbClr val="22D3EE"/>
                </a:solidFill>
              </a:defRPr>
            </a:pPr>
            <a:r>
              <a:t>[ Node 03 ] Public Charger</a:t>
            </a:r>
          </a:p>
          <a:p>
            <a:pPr>
              <a:spcBef>
                <a:spcPts val="100"/>
              </a:spcBef>
              <a:spcAft>
                <a:spcPts val="200"/>
              </a:spcAft>
              <a:defRPr sz="1250" b="1">
                <a:solidFill>
                  <a:srgbClr val="FFFFFF"/>
                </a:solidFill>
              </a:defRPr>
            </a:pPr>
            <a:r>
              <a:t>Travel + Wait + Availability Uncertainty</a:t>
            </a:r>
          </a:p>
          <a:p>
            <a:pPr>
              <a:defRPr sz="1000">
                <a:solidFill>
                  <a:srgbClr val="CBD5E1"/>
                </a:solidFill>
              </a:defRPr>
            </a:pPr>
            <a:r>
              <a:t>15%-25% dispenser failure rate, 20-45 minute peak queues, and unpredictable station availability.</a:t>
            </a:r>
          </a:p>
        </p:txBody>
      </p:sp>
      <p:pic>
        <p:nvPicPr>
          <p:cNvPr id="10" name="Picture 9" descr="public_charger_queue_5.03x4.25.jpg"/>
          <p:cNvPicPr>
            <a:picLocks noChangeAspect="1"/>
          </p:cNvPicPr>
          <p:nvPr/>
        </p:nvPicPr>
        <p:blipFill>
          <a:blip r:embed="rId2"/>
          <a:stretch>
            <a:fillRect/>
          </a:stretch>
        </p:blipFill>
        <p:spPr>
          <a:xfrm>
            <a:off x="6858000" y="1463040"/>
            <a:ext cx="4602175" cy="3886200"/>
          </a:xfrm>
          <a:prstGeom prst="rect">
            <a:avLst/>
          </a:prstGeom>
        </p:spPr>
      </p:pic>
      <p:sp>
        <p:nvSpPr>
          <p:cNvPr id="11" name="Rectangle 10"/>
          <p:cNvSpPr/>
          <p:nvPr/>
        </p:nvSpPr>
        <p:spPr>
          <a:xfrm>
            <a:off x="6858000" y="1463040"/>
            <a:ext cx="4602175" cy="3886200"/>
          </a:xfrm>
          <a:prstGeom prst="rect">
            <a:avLst/>
          </a:prstGeom>
          <a:no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995160" y="4526279"/>
            <a:ext cx="4327855" cy="68580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0" y="4599431"/>
            <a:ext cx="4053535" cy="539496"/>
          </a:xfrm>
          <a:prstGeom prst="rect">
            <a:avLst/>
          </a:prstGeom>
          <a:noFill/>
        </p:spPr>
        <p:txBody>
          <a:bodyPr wrap="square" lIns="0" tIns="0" rIns="0" bIns="0">
            <a:spAutoFit/>
          </a:bodyPr>
          <a:lstStyle/>
          <a:p>
            <a:pPr>
              <a:defRPr sz="850" b="1">
                <a:solidFill>
                  <a:srgbClr val="22D3EE"/>
                </a:solidFill>
              </a:defRPr>
            </a:pPr>
            <a:r>
              <a:t>HIGHWAY RANGE GAP</a:t>
            </a:r>
          </a:p>
          <a:p>
            <a:pPr>
              <a:spcBef>
                <a:spcPts val="200"/>
              </a:spcBef>
              <a:defRPr sz="950">
                <a:solidFill>
                  <a:srgbClr val="FFFFFF"/>
                </a:solidFill>
              </a:defRPr>
            </a:pPr>
            <a:r>
              <a:t>Long-distance corridors have charging voids while private chargers sit idle.</a:t>
            </a:r>
          </a:p>
        </p:txBody>
      </p:sp>
      <p:sp>
        <p:nvSpPr>
          <p:cNvPr id="14" name="Rounded Rectangle 13"/>
          <p:cNvSpPr/>
          <p:nvPr/>
        </p:nvSpPr>
        <p:spPr>
          <a:xfrm>
            <a:off x="6995160" y="1600200"/>
            <a:ext cx="4327855" cy="594360"/>
          </a:xfrm>
          <a:prstGeom prst="roundRect">
            <a:avLst/>
          </a:prstGeom>
          <a:solidFill>
            <a:srgbClr val="0F172A"/>
          </a:solidFill>
          <a:ln>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32320" y="1664208"/>
            <a:ext cx="4023360" cy="457200"/>
          </a:xfrm>
          <a:prstGeom prst="rect">
            <a:avLst/>
          </a:prstGeom>
          <a:noFill/>
        </p:spPr>
        <p:txBody>
          <a:bodyPr wrap="square" lIns="0" tIns="0" rIns="0" bIns="0">
            <a:spAutoFit/>
          </a:bodyPr>
          <a:lstStyle/>
          <a:p>
            <a:pPr>
              <a:defRPr sz="850" b="1">
                <a:solidFill>
                  <a:srgbClr val="F87171"/>
                </a:solidFill>
              </a:defRPr>
            </a:pPr>
            <a:r>
              <a:t>URBAN BARRIER METRIC</a:t>
            </a:r>
          </a:p>
          <a:p>
            <a:pPr>
              <a:defRPr sz="1050" b="1">
                <a:solidFill>
                  <a:srgbClr val="FFFFFF"/>
                </a:solidFill>
              </a:defRPr>
            </a:pPr>
            <a:r>
              <a:t>42% of urban EV drivers lack home charging</a:t>
            </a:r>
          </a:p>
        </p:txBody>
      </p:sp>
      <p:sp>
        <p:nvSpPr>
          <p:cNvPr id="16" name="Rounded Rectangle 15"/>
          <p:cNvSpPr/>
          <p:nvPr/>
        </p:nvSpPr>
        <p:spPr>
          <a:xfrm>
            <a:off x="731520" y="5486400"/>
            <a:ext cx="10728655" cy="59436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5596128"/>
            <a:ext cx="10362895" cy="365760"/>
          </a:xfrm>
          <a:prstGeom prst="rect">
            <a:avLst/>
          </a:prstGeom>
          <a:noFill/>
        </p:spPr>
        <p:txBody>
          <a:bodyPr wrap="square" lIns="0" tIns="0" rIns="0" bIns="0">
            <a:spAutoFit/>
          </a:bodyPr>
          <a:lstStyle/>
          <a:p>
            <a:pPr algn="ctr">
              <a:defRPr sz="1100" b="1">
                <a:solidFill>
                  <a:srgbClr val="67E8F9"/>
                </a:solidFill>
              </a:defRPr>
            </a:pPr>
            <a:r>
              <a:t>Opportunity: connect convenience with underutilized charging capacity.</a:t>
            </a:r>
          </a:p>
        </p:txBody>
      </p:sp>
      <p:sp>
        <p:nvSpPr>
          <p:cNvPr id="18" name="TextBox 17"/>
          <p:cNvSpPr txBox="1"/>
          <p:nvPr/>
        </p:nvSpPr>
        <p:spPr>
          <a:xfrm>
            <a:off x="731520" y="6446520"/>
            <a:ext cx="10728655" cy="274320"/>
          </a:xfrm>
          <a:prstGeom prst="rect">
            <a:avLst/>
          </a:prstGeom>
          <a:noFill/>
        </p:spPr>
        <p:txBody>
          <a:bodyPr wrap="none" lIns="0" tIns="0" rIns="0" bIns="0">
            <a:spAutoFit/>
          </a:bodyPr>
          <a:lstStyle/>
          <a:p>
            <a:pPr>
              <a:defRPr sz="900">
                <a:solidFill>
                  <a:srgbClr val="475569"/>
                </a:solidFill>
              </a:defRPr>
            </a:pPr>
            <a:r>
              <a:t>EV CHARGING NETWORK : Slide 02 of 13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206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728655" cy="868680"/>
          </a:xfrm>
          <a:prstGeom prst="rect">
            <a:avLst/>
          </a:prstGeom>
          <a:noFill/>
        </p:spPr>
        <p:txBody>
          <a:bodyPr wrap="square" lIns="0" tIns="0" rIns="0" bIns="0">
            <a:spAutoFit/>
          </a:bodyPr>
          <a:lstStyle/>
          <a:p>
            <a:pPr>
              <a:spcAft>
                <a:spcPts val="200"/>
              </a:spcAft>
              <a:defRPr sz="1000" b="1">
                <a:solidFill>
                  <a:srgbClr val="22D3EE"/>
                </a:solidFill>
              </a:defRPr>
            </a:pPr>
            <a:r>
              <a:t>02 : SOLUTION</a:t>
            </a:r>
          </a:p>
          <a:p>
            <a:pPr>
              <a:spcAft>
                <a:spcPts val="200"/>
              </a:spcAft>
              <a:defRPr sz="2200" b="1">
                <a:solidFill>
                  <a:srgbClr val="FFFFFF"/>
                </a:solidFill>
              </a:defRPr>
            </a:pPr>
            <a:r>
              <a:t>One platform. Two charging models.</a:t>
            </a:r>
          </a:p>
          <a:p>
            <a:pPr>
              <a:defRPr sz="1100">
                <a:solidFill>
                  <a:srgbClr val="94A3B8"/>
                </a:solidFill>
              </a:defRPr>
            </a:pPr>
            <a:r>
              <a:t>Unifying high-density company-owned hubs with an asset-light distributed network</a:t>
            </a:r>
          </a:p>
        </p:txBody>
      </p:sp>
      <p:sp>
        <p:nvSpPr>
          <p:cNvPr id="4" name="Rounded Rectangle 3"/>
          <p:cNvSpPr/>
          <p:nvPr/>
        </p:nvSpPr>
        <p:spPr>
          <a:xfrm>
            <a:off x="731520" y="1463040"/>
            <a:ext cx="5212080" cy="480060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vertical_parking_tower_5.30x1.90.jpg"/>
          <p:cNvPicPr>
            <a:picLocks noChangeAspect="1"/>
          </p:cNvPicPr>
          <p:nvPr/>
        </p:nvPicPr>
        <p:blipFill>
          <a:blip r:embed="rId2"/>
          <a:stretch>
            <a:fillRect/>
          </a:stretch>
        </p:blipFill>
        <p:spPr>
          <a:xfrm>
            <a:off x="914400" y="1645920"/>
            <a:ext cx="4846320" cy="1737360"/>
          </a:xfrm>
          <a:prstGeom prst="rect">
            <a:avLst/>
          </a:prstGeom>
        </p:spPr>
      </p:pic>
      <p:sp>
        <p:nvSpPr>
          <p:cNvPr id="6" name="Rectangle 5"/>
          <p:cNvSpPr/>
          <p:nvPr/>
        </p:nvSpPr>
        <p:spPr>
          <a:xfrm>
            <a:off x="914400" y="1645920"/>
            <a:ext cx="4846320" cy="1737360"/>
          </a:xfrm>
          <a:prstGeom prst="rect">
            <a:avLst/>
          </a:prstGeom>
          <a:no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51560" y="2834640"/>
            <a:ext cx="4572000" cy="41148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88719" y="2907792"/>
            <a:ext cx="4297680" cy="265176"/>
          </a:xfrm>
          <a:prstGeom prst="rect">
            <a:avLst/>
          </a:prstGeom>
          <a:noFill/>
        </p:spPr>
        <p:txBody>
          <a:bodyPr wrap="square" lIns="0" tIns="0" rIns="0" bIns="0">
            <a:spAutoFit/>
          </a:bodyPr>
          <a:lstStyle/>
          <a:p>
            <a:pPr>
              <a:defRPr sz="850" b="1">
                <a:solidFill>
                  <a:srgbClr val="22D3EE"/>
                </a:solidFill>
              </a:defRPr>
            </a:pPr>
            <a:r>
              <a:t>COMPANY-OWNED INFRASTRUCTURE</a:t>
            </a:r>
          </a:p>
        </p:txBody>
      </p:sp>
      <p:sp>
        <p:nvSpPr>
          <p:cNvPr id="9" name="TextBox 8"/>
          <p:cNvSpPr txBox="1"/>
          <p:nvPr/>
        </p:nvSpPr>
        <p:spPr>
          <a:xfrm>
            <a:off x="914400" y="3520440"/>
            <a:ext cx="4846320" cy="2560320"/>
          </a:xfrm>
          <a:prstGeom prst="rect">
            <a:avLst/>
          </a:prstGeom>
          <a:noFill/>
        </p:spPr>
        <p:txBody>
          <a:bodyPr wrap="square" lIns="0" tIns="0" rIns="0" bIns="0">
            <a:spAutoFit/>
          </a:bodyPr>
          <a:lstStyle/>
          <a:p>
            <a:pPr>
              <a:spcAft>
                <a:spcPts val="400"/>
              </a:spcAft>
              <a:defRPr sz="1300" b="1">
                <a:solidFill>
                  <a:srgbClr val="FFFFFF"/>
                </a:solidFill>
              </a:defRPr>
            </a:pPr>
            <a:r>
              <a:t>MODEL 1 : CHARGING HUB</a:t>
            </a:r>
          </a:p>
          <a:p>
            <a:pPr>
              <a:spcAft>
                <a:spcPts val="200"/>
              </a:spcAft>
              <a:defRPr sz="1000">
                <a:solidFill>
                  <a:srgbClr val="CBD5E1"/>
                </a:solidFill>
              </a:defRPr>
            </a:pPr>
            <a:r>
              <a:t>- Company-owned hub: Dedicated multi-megawatt facility.</a:t>
            </a:r>
          </a:p>
          <a:p>
            <a:pPr>
              <a:spcAft>
                <a:spcPts val="200"/>
              </a:spcAft>
              <a:defRPr sz="1000">
                <a:solidFill>
                  <a:srgbClr val="CBD5E1"/>
                </a:solidFill>
              </a:defRPr>
            </a:pPr>
            <a:r>
              <a:t>- Vertical parking: 3x vehicle density per land footprint.</a:t>
            </a:r>
          </a:p>
          <a:p>
            <a:pPr>
              <a:spcAft>
                <a:spcPts val="200"/>
              </a:spcAft>
              <a:defRPr sz="1000">
                <a:solidFill>
                  <a:srgbClr val="CBD5E1"/>
                </a:solidFill>
              </a:defRPr>
            </a:pPr>
            <a:r>
              <a:t>- Dedicated chargers: Every stall has dedicated 22kW port.</a:t>
            </a:r>
          </a:p>
          <a:p>
            <a:pPr>
              <a:spcAft>
                <a:spcPts val="200"/>
              </a:spcAft>
              <a:defRPr sz="1000">
                <a:solidFill>
                  <a:srgbClr val="CBD5E1"/>
                </a:solidFill>
              </a:defRPr>
            </a:pPr>
            <a:r>
              <a:t>- Optional solar: Rooftop array with battery storage peak shaving.</a:t>
            </a:r>
          </a:p>
          <a:p>
            <a:pPr>
              <a:spcBef>
                <a:spcPts val="400"/>
              </a:spcBef>
              <a:defRPr sz="950">
                <a:solidFill>
                  <a:srgbClr val="22D3EE"/>
                </a:solidFill>
              </a:defRPr>
            </a:pPr>
            <a:r>
              <a:t>Valet Concierge: Scheduled evening pickup and 7:00 AM delivery to owner bay.</a:t>
            </a:r>
          </a:p>
        </p:txBody>
      </p:sp>
      <p:sp>
        <p:nvSpPr>
          <p:cNvPr id="10" name="Rounded Rectangle 9"/>
          <p:cNvSpPr/>
          <p:nvPr/>
        </p:nvSpPr>
        <p:spPr>
          <a:xfrm>
            <a:off x="6248095" y="1463040"/>
            <a:ext cx="5212080" cy="480060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residential_driveway_charger_5.30x1.90.jpg"/>
          <p:cNvPicPr>
            <a:picLocks noChangeAspect="1"/>
          </p:cNvPicPr>
          <p:nvPr/>
        </p:nvPicPr>
        <p:blipFill>
          <a:blip r:embed="rId3"/>
          <a:stretch>
            <a:fillRect/>
          </a:stretch>
        </p:blipFill>
        <p:spPr>
          <a:xfrm>
            <a:off x="6430975" y="1645920"/>
            <a:ext cx="4846320" cy="1737360"/>
          </a:xfrm>
          <a:prstGeom prst="rect">
            <a:avLst/>
          </a:prstGeom>
        </p:spPr>
      </p:pic>
      <p:sp>
        <p:nvSpPr>
          <p:cNvPr id="12" name="Rectangle 11"/>
          <p:cNvSpPr/>
          <p:nvPr/>
        </p:nvSpPr>
        <p:spPr>
          <a:xfrm>
            <a:off x="6430975" y="1645920"/>
            <a:ext cx="4846320" cy="1737360"/>
          </a:xfrm>
          <a:prstGeom prst="rect">
            <a:avLst/>
          </a:prstGeom>
          <a:no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568135" y="2834640"/>
            <a:ext cx="4572000" cy="41148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05295" y="2907792"/>
            <a:ext cx="4297680" cy="265176"/>
          </a:xfrm>
          <a:prstGeom prst="rect">
            <a:avLst/>
          </a:prstGeom>
          <a:noFill/>
        </p:spPr>
        <p:txBody>
          <a:bodyPr wrap="square" lIns="0" tIns="0" rIns="0" bIns="0">
            <a:spAutoFit/>
          </a:bodyPr>
          <a:lstStyle/>
          <a:p>
            <a:pPr>
              <a:defRPr sz="850" b="1">
                <a:solidFill>
                  <a:srgbClr val="94A3B8"/>
                </a:solidFill>
              </a:defRPr>
            </a:pPr>
            <a:r>
              <a:t>ASSET-LIGHT HOST HARDWARE</a:t>
            </a:r>
          </a:p>
        </p:txBody>
      </p:sp>
      <p:sp>
        <p:nvSpPr>
          <p:cNvPr id="15" name="TextBox 14"/>
          <p:cNvSpPr txBox="1"/>
          <p:nvPr/>
        </p:nvSpPr>
        <p:spPr>
          <a:xfrm>
            <a:off x="6430975" y="3520440"/>
            <a:ext cx="4846320" cy="2560320"/>
          </a:xfrm>
          <a:prstGeom prst="rect">
            <a:avLst/>
          </a:prstGeom>
          <a:noFill/>
        </p:spPr>
        <p:txBody>
          <a:bodyPr wrap="square" lIns="0" tIns="0" rIns="0" bIns="0">
            <a:spAutoFit/>
          </a:bodyPr>
          <a:lstStyle/>
          <a:p>
            <a:pPr>
              <a:spcAft>
                <a:spcPts val="400"/>
              </a:spcAft>
              <a:defRPr sz="1300" b="1">
                <a:solidFill>
                  <a:srgbClr val="FFFFFF"/>
                </a:solidFill>
              </a:defRPr>
            </a:pPr>
            <a:r>
              <a:t>MODEL 2 : DISTRIBUTED NETWORK</a:t>
            </a:r>
          </a:p>
          <a:p>
            <a:pPr>
              <a:spcAft>
                <a:spcPts val="200"/>
              </a:spcAft>
              <a:defRPr sz="1000">
                <a:solidFill>
                  <a:srgbClr val="CBD5E1"/>
                </a:solidFill>
              </a:defRPr>
            </a:pPr>
            <a:r>
              <a:t>- Verified host chargers: Monetizes private residential &amp; commercial EVSEs.</a:t>
            </a:r>
          </a:p>
          <a:p>
            <a:pPr>
              <a:spcAft>
                <a:spcPts val="200"/>
              </a:spcAft>
              <a:defRPr sz="1000">
                <a:solidFill>
                  <a:srgbClr val="CBD5E1"/>
                </a:solidFill>
              </a:defRPr>
            </a:pPr>
            <a:r>
              <a:t>- Secure self-service: Zero host contact or physical keys required.</a:t>
            </a:r>
          </a:p>
          <a:p>
            <a:pPr>
              <a:spcAft>
                <a:spcPts val="200"/>
              </a:spcAft>
              <a:defRPr sz="1000">
                <a:solidFill>
                  <a:srgbClr val="CBD5E1"/>
                </a:solidFill>
              </a:defRPr>
            </a:pPr>
            <a:r>
              <a:t>- Highway availability: Fills long-distance route gaps between fast chargers.</a:t>
            </a:r>
          </a:p>
          <a:p>
            <a:pPr>
              <a:spcAft>
                <a:spcPts val="200"/>
              </a:spcAft>
              <a:defRPr sz="1000">
                <a:solidFill>
                  <a:srgbClr val="CBD5E1"/>
                </a:solidFill>
              </a:defRPr>
            </a:pPr>
            <a:r>
              <a:t>- Smart IoT control: Solenoid holster locks only during booked windows.</a:t>
            </a:r>
          </a:p>
          <a:p>
            <a:pPr>
              <a:spcBef>
                <a:spcPts val="400"/>
              </a:spcBef>
              <a:defRPr sz="950">
                <a:solidFill>
                  <a:srgbClr val="22D3EE"/>
                </a:solidFill>
              </a:defRPr>
            </a:pPr>
            <a:r>
              <a:t>Distributed Scaling: Expands coverage across highways with zero construction CapEx.</a:t>
            </a:r>
          </a:p>
        </p:txBody>
      </p:sp>
      <p:sp>
        <p:nvSpPr>
          <p:cNvPr id="16" name="TextBox 15"/>
          <p:cNvSpPr txBox="1"/>
          <p:nvPr/>
        </p:nvSpPr>
        <p:spPr>
          <a:xfrm>
            <a:off x="731520" y="6446520"/>
            <a:ext cx="10728655" cy="274320"/>
          </a:xfrm>
          <a:prstGeom prst="rect">
            <a:avLst/>
          </a:prstGeom>
          <a:noFill/>
        </p:spPr>
        <p:txBody>
          <a:bodyPr wrap="none" lIns="0" tIns="0" rIns="0" bIns="0">
            <a:spAutoFit/>
          </a:bodyPr>
          <a:lstStyle/>
          <a:p>
            <a:pPr>
              <a:defRPr sz="900">
                <a:solidFill>
                  <a:srgbClr val="475569"/>
                </a:solidFill>
              </a:defRPr>
            </a:pPr>
            <a:r>
              <a:t>EV CHARGING NETWORK : Slide 03 of 13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206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728655" cy="868680"/>
          </a:xfrm>
          <a:prstGeom prst="rect">
            <a:avLst/>
          </a:prstGeom>
          <a:noFill/>
        </p:spPr>
        <p:txBody>
          <a:bodyPr wrap="square" lIns="0" tIns="0" rIns="0" bIns="0">
            <a:spAutoFit/>
          </a:bodyPr>
          <a:lstStyle/>
          <a:p>
            <a:pPr>
              <a:spcAft>
                <a:spcPts val="200"/>
              </a:spcAft>
              <a:defRPr sz="1000" b="1">
                <a:solidFill>
                  <a:srgbClr val="22D3EE"/>
                </a:solidFill>
              </a:defRPr>
            </a:pPr>
            <a:r>
              <a:t>03 : URBAN</a:t>
            </a:r>
          </a:p>
          <a:p>
            <a:pPr>
              <a:spcAft>
                <a:spcPts val="200"/>
              </a:spcAft>
              <a:defRPr sz="2200" b="1">
                <a:solidFill>
                  <a:srgbClr val="FFFFFF"/>
                </a:solidFill>
              </a:defRPr>
            </a:pPr>
            <a:r>
              <a:t>Model 1 - Charging Hub + Valet</a:t>
            </a:r>
          </a:p>
          <a:p>
            <a:pPr>
              <a:defRPr sz="1100">
                <a:solidFill>
                  <a:srgbClr val="94A3B8"/>
                </a:solidFill>
              </a:defRPr>
            </a:pPr>
            <a:r>
              <a:t>Interactive Lifecycle Demonstration: 5-step operational workflow</a:t>
            </a:r>
          </a:p>
        </p:txBody>
      </p:sp>
      <p:sp>
        <p:nvSpPr>
          <p:cNvPr id="4" name="Rounded Rectangle 3"/>
          <p:cNvSpPr/>
          <p:nvPr/>
        </p:nvSpPr>
        <p:spPr>
          <a:xfrm>
            <a:off x="731520" y="1417320"/>
            <a:ext cx="2057400" cy="640080"/>
          </a:xfrm>
          <a:prstGeom prst="roundRect">
            <a:avLst/>
          </a:prstGeom>
          <a:solidFill>
            <a:srgbClr val="083344"/>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463040"/>
            <a:ext cx="1874519" cy="502920"/>
          </a:xfrm>
          <a:prstGeom prst="rect">
            <a:avLst/>
          </a:prstGeom>
          <a:noFill/>
        </p:spPr>
        <p:txBody>
          <a:bodyPr wrap="square" lIns="0" tIns="0" rIns="0" bIns="0">
            <a:spAutoFit/>
          </a:bodyPr>
          <a:lstStyle/>
          <a:p>
            <a:pPr>
              <a:defRPr sz="850" b="1">
                <a:solidFill>
                  <a:srgbClr val="22D3EE"/>
                </a:solidFill>
              </a:defRPr>
            </a:pPr>
            <a:r>
              <a:t>01 : BOOK</a:t>
            </a:r>
          </a:p>
          <a:p>
            <a:pPr>
              <a:defRPr sz="1000" b="1">
                <a:solidFill>
                  <a:srgbClr val="FFFFFF"/>
                </a:solidFill>
              </a:defRPr>
            </a:pPr>
            <a:r>
              <a:t>Schedule</a:t>
            </a:r>
          </a:p>
        </p:txBody>
      </p:sp>
      <p:sp>
        <p:nvSpPr>
          <p:cNvPr id="6" name="Rounded Rectangle 5"/>
          <p:cNvSpPr/>
          <p:nvPr/>
        </p:nvSpPr>
        <p:spPr>
          <a:xfrm>
            <a:off x="2898648" y="1417320"/>
            <a:ext cx="2057400" cy="64008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990088" y="1463040"/>
            <a:ext cx="1874519" cy="502920"/>
          </a:xfrm>
          <a:prstGeom prst="rect">
            <a:avLst/>
          </a:prstGeom>
          <a:noFill/>
        </p:spPr>
        <p:txBody>
          <a:bodyPr wrap="square" lIns="0" tIns="0" rIns="0" bIns="0">
            <a:spAutoFit/>
          </a:bodyPr>
          <a:lstStyle/>
          <a:p>
            <a:pPr>
              <a:defRPr sz="850" b="1">
                <a:solidFill>
                  <a:srgbClr val="94A3B8"/>
                </a:solidFill>
              </a:defRPr>
            </a:pPr>
            <a:r>
              <a:t>02 : PICKUP</a:t>
            </a:r>
          </a:p>
          <a:p>
            <a:pPr>
              <a:defRPr sz="1000" b="1">
                <a:solidFill>
                  <a:srgbClr val="CBD5E1"/>
                </a:solidFill>
              </a:defRPr>
            </a:pPr>
            <a:r>
              <a:t>Verified Valet</a:t>
            </a:r>
          </a:p>
        </p:txBody>
      </p:sp>
      <p:sp>
        <p:nvSpPr>
          <p:cNvPr id="8" name="Rounded Rectangle 7"/>
          <p:cNvSpPr/>
          <p:nvPr/>
        </p:nvSpPr>
        <p:spPr>
          <a:xfrm>
            <a:off x="5065776" y="1417320"/>
            <a:ext cx="2057400" cy="64008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157216" y="1463040"/>
            <a:ext cx="1874519" cy="502920"/>
          </a:xfrm>
          <a:prstGeom prst="rect">
            <a:avLst/>
          </a:prstGeom>
          <a:noFill/>
        </p:spPr>
        <p:txBody>
          <a:bodyPr wrap="square" lIns="0" tIns="0" rIns="0" bIns="0">
            <a:spAutoFit/>
          </a:bodyPr>
          <a:lstStyle/>
          <a:p>
            <a:pPr>
              <a:defRPr sz="850" b="1">
                <a:solidFill>
                  <a:srgbClr val="94A3B8"/>
                </a:solidFill>
              </a:defRPr>
            </a:pPr>
            <a:r>
              <a:t>03 : TOWER</a:t>
            </a:r>
          </a:p>
          <a:p>
            <a:pPr>
              <a:defRPr sz="1000" b="1">
                <a:solidFill>
                  <a:srgbClr val="CBD5E1"/>
                </a:solidFill>
              </a:defRPr>
            </a:pPr>
            <a:r>
              <a:t>Stack Parking</a:t>
            </a:r>
          </a:p>
        </p:txBody>
      </p:sp>
      <p:sp>
        <p:nvSpPr>
          <p:cNvPr id="10" name="Rounded Rectangle 9"/>
          <p:cNvSpPr/>
          <p:nvPr/>
        </p:nvSpPr>
        <p:spPr>
          <a:xfrm>
            <a:off x="7232904" y="1417320"/>
            <a:ext cx="2057400" cy="64008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24344" y="1463040"/>
            <a:ext cx="1874519" cy="502920"/>
          </a:xfrm>
          <a:prstGeom prst="rect">
            <a:avLst/>
          </a:prstGeom>
          <a:noFill/>
        </p:spPr>
        <p:txBody>
          <a:bodyPr wrap="square" lIns="0" tIns="0" rIns="0" bIns="0">
            <a:spAutoFit/>
          </a:bodyPr>
          <a:lstStyle/>
          <a:p>
            <a:pPr>
              <a:defRPr sz="850" b="1">
                <a:solidFill>
                  <a:srgbClr val="94A3B8"/>
                </a:solidFill>
              </a:defRPr>
            </a:pPr>
            <a:r>
              <a:t>04 : CHARGE</a:t>
            </a:r>
          </a:p>
          <a:p>
            <a:pPr>
              <a:defRPr sz="1000" b="1">
                <a:solidFill>
                  <a:srgbClr val="CBD5E1"/>
                </a:solidFill>
              </a:defRPr>
            </a:pPr>
            <a:r>
              <a:t>Solar + 22kW</a:t>
            </a:r>
          </a:p>
        </p:txBody>
      </p:sp>
      <p:sp>
        <p:nvSpPr>
          <p:cNvPr id="12" name="Rounded Rectangle 11"/>
          <p:cNvSpPr/>
          <p:nvPr/>
        </p:nvSpPr>
        <p:spPr>
          <a:xfrm>
            <a:off x="9400032" y="1417320"/>
            <a:ext cx="2057400" cy="64008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491472" y="1463040"/>
            <a:ext cx="1874519" cy="502920"/>
          </a:xfrm>
          <a:prstGeom prst="rect">
            <a:avLst/>
          </a:prstGeom>
          <a:noFill/>
        </p:spPr>
        <p:txBody>
          <a:bodyPr wrap="square" lIns="0" tIns="0" rIns="0" bIns="0">
            <a:spAutoFit/>
          </a:bodyPr>
          <a:lstStyle/>
          <a:p>
            <a:pPr>
              <a:defRPr sz="850" b="1">
                <a:solidFill>
                  <a:srgbClr val="94A3B8"/>
                </a:solidFill>
              </a:defRPr>
            </a:pPr>
            <a:r>
              <a:t>05 : RETURN</a:t>
            </a:r>
          </a:p>
          <a:p>
            <a:pPr>
              <a:defRPr sz="1000" b="1">
                <a:solidFill>
                  <a:srgbClr val="CBD5E1"/>
                </a:solidFill>
              </a:defRPr>
            </a:pPr>
            <a:r>
              <a:t>Morning Drop</a:t>
            </a:r>
          </a:p>
        </p:txBody>
      </p:sp>
      <p:pic>
        <p:nvPicPr>
          <p:cNvPr id="14" name="Picture 13" descr="vertical_parking_tower_4.80x2.60.jpg"/>
          <p:cNvPicPr>
            <a:picLocks noChangeAspect="1"/>
          </p:cNvPicPr>
          <p:nvPr/>
        </p:nvPicPr>
        <p:blipFill>
          <a:blip r:embed="rId2"/>
          <a:stretch>
            <a:fillRect/>
          </a:stretch>
        </p:blipFill>
        <p:spPr>
          <a:xfrm>
            <a:off x="731520" y="2240280"/>
            <a:ext cx="4389120" cy="2377440"/>
          </a:xfrm>
          <a:prstGeom prst="rect">
            <a:avLst/>
          </a:prstGeom>
        </p:spPr>
      </p:pic>
      <p:sp>
        <p:nvSpPr>
          <p:cNvPr id="15" name="Rectangle 14"/>
          <p:cNvSpPr/>
          <p:nvPr/>
        </p:nvSpPr>
        <p:spPr>
          <a:xfrm>
            <a:off x="731520" y="2240280"/>
            <a:ext cx="4389120" cy="2377440"/>
          </a:xfrm>
          <a:prstGeom prst="rect">
            <a:avLst/>
          </a:prstGeom>
          <a:no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68680" y="3794760"/>
            <a:ext cx="4114800" cy="68580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3867912"/>
            <a:ext cx="3840480" cy="539496"/>
          </a:xfrm>
          <a:prstGeom prst="rect">
            <a:avLst/>
          </a:prstGeom>
          <a:noFill/>
        </p:spPr>
        <p:txBody>
          <a:bodyPr wrap="square" lIns="0" tIns="0" rIns="0" bIns="0">
            <a:spAutoFit/>
          </a:bodyPr>
          <a:lstStyle/>
          <a:p>
            <a:pPr>
              <a:defRPr sz="850" b="1">
                <a:solidFill>
                  <a:srgbClr val="22D3EE"/>
                </a:solidFill>
              </a:defRPr>
            </a:pPr>
            <a:r>
              <a:t>TOWER STACKING SYSTEM</a:t>
            </a:r>
          </a:p>
          <a:p>
            <a:pPr>
              <a:spcBef>
                <a:spcPts val="200"/>
              </a:spcBef>
              <a:defRPr sz="950">
                <a:solidFill>
                  <a:srgbClr val="FFFFFF"/>
                </a:solidFill>
              </a:defRPr>
            </a:pPr>
            <a:r>
              <a:t>Automated car lift positions vehicle in dedicated stall.</a:t>
            </a:r>
          </a:p>
        </p:txBody>
      </p:sp>
      <p:sp>
        <p:nvSpPr>
          <p:cNvPr id="18" name="Rounded Rectangle 17"/>
          <p:cNvSpPr/>
          <p:nvPr/>
        </p:nvSpPr>
        <p:spPr>
          <a:xfrm>
            <a:off x="5303520" y="2240280"/>
            <a:ext cx="6156655" cy="237744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0" y="2377440"/>
            <a:ext cx="5790895" cy="2103120"/>
          </a:xfrm>
          <a:prstGeom prst="rect">
            <a:avLst/>
          </a:prstGeom>
          <a:noFill/>
        </p:spPr>
        <p:txBody>
          <a:bodyPr wrap="square" lIns="0" tIns="0" rIns="0" bIns="0">
            <a:spAutoFit/>
          </a:bodyPr>
          <a:lstStyle/>
          <a:p>
            <a:pPr>
              <a:defRPr sz="950" b="1">
                <a:solidFill>
                  <a:srgbClr val="22D3EE"/>
                </a:solidFill>
              </a:defRPr>
            </a:pPr>
            <a:r>
              <a:t>STAGE 01 : BOOKING</a:t>
            </a:r>
          </a:p>
          <a:p>
            <a:pPr>
              <a:spcBef>
                <a:spcPts val="200"/>
              </a:spcBef>
              <a:spcAft>
                <a:spcPts val="400"/>
              </a:spcAft>
              <a:defRPr sz="1350" b="1">
                <a:solidFill>
                  <a:srgbClr val="FFFFFF"/>
                </a:solidFill>
              </a:defRPr>
            </a:pPr>
            <a:r>
              <a:t>Owner Schedules Pickup Window via Mobile App</a:t>
            </a:r>
          </a:p>
          <a:p>
            <a:pPr>
              <a:spcAft>
                <a:spcPts val="800"/>
              </a:spcAft>
              <a:defRPr sz="1050">
                <a:solidFill>
                  <a:srgbClr val="CBD5E1"/>
                </a:solidFill>
              </a:defRPr>
            </a:pPr>
            <a:r>
              <a:t>Owner specifies target state of charge (80% or 100%) and selects 9:00 PM pickup with 7:00 AM delivery. Cloud platform reserves dedicated vertical hub stall and dispatches verified concierge valet.</a:t>
            </a:r>
          </a:p>
          <a:p>
            <a:pPr>
              <a:defRPr sz="950" b="1">
                <a:solidFill>
                  <a:srgbClr val="67E8F9"/>
                </a:solidFill>
              </a:defRPr>
            </a:pPr>
            <a:r>
              <a:t>Status: Reserved  |  Target SoC: 80%  |  Route: Optimal Stacking Level 3</a:t>
            </a:r>
          </a:p>
        </p:txBody>
      </p:sp>
      <p:sp>
        <p:nvSpPr>
          <p:cNvPr id="20" name="Rounded Rectangle 19"/>
          <p:cNvSpPr/>
          <p:nvPr/>
        </p:nvSpPr>
        <p:spPr>
          <a:xfrm>
            <a:off x="731520" y="4800600"/>
            <a:ext cx="3474720" cy="132588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4937760"/>
            <a:ext cx="3108960" cy="1005840"/>
          </a:xfrm>
          <a:prstGeom prst="rect">
            <a:avLst/>
          </a:prstGeom>
          <a:noFill/>
        </p:spPr>
        <p:txBody>
          <a:bodyPr wrap="square" lIns="0" tIns="0" rIns="0" bIns="0">
            <a:spAutoFit/>
          </a:bodyPr>
          <a:lstStyle/>
          <a:p>
            <a:pPr>
              <a:spcAft>
                <a:spcPts val="200"/>
              </a:spcAft>
              <a:defRPr sz="1100" b="1">
                <a:solidFill>
                  <a:srgbClr val="FFFFFF"/>
                </a:solidFill>
              </a:defRPr>
            </a:pPr>
            <a:r>
              <a:t>VERTICAL PARKING:</a:t>
            </a:r>
          </a:p>
          <a:p>
            <a:pPr>
              <a:defRPr sz="1000">
                <a:solidFill>
                  <a:srgbClr val="94A3B8"/>
                </a:solidFill>
              </a:defRPr>
            </a:pPr>
            <a:r>
              <a:t>3x land density through multi-tier automated stacking.</a:t>
            </a:r>
          </a:p>
        </p:txBody>
      </p:sp>
      <p:sp>
        <p:nvSpPr>
          <p:cNvPr id="22" name="Rounded Rectangle 21"/>
          <p:cNvSpPr/>
          <p:nvPr/>
        </p:nvSpPr>
        <p:spPr>
          <a:xfrm>
            <a:off x="4352544" y="4800600"/>
            <a:ext cx="3474720" cy="132588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35424" y="4937760"/>
            <a:ext cx="3108960" cy="1005840"/>
          </a:xfrm>
          <a:prstGeom prst="rect">
            <a:avLst/>
          </a:prstGeom>
          <a:noFill/>
        </p:spPr>
        <p:txBody>
          <a:bodyPr wrap="square" lIns="0" tIns="0" rIns="0" bIns="0">
            <a:spAutoFit/>
          </a:bodyPr>
          <a:lstStyle/>
          <a:p>
            <a:pPr>
              <a:spcAft>
                <a:spcPts val="200"/>
              </a:spcAft>
              <a:defRPr sz="1100" b="1">
                <a:solidFill>
                  <a:srgbClr val="FFFFFF"/>
                </a:solidFill>
              </a:defRPr>
            </a:pPr>
            <a:r>
              <a:t>DEDICATED CHARGERS:</a:t>
            </a:r>
          </a:p>
          <a:p>
            <a:pPr>
              <a:defRPr sz="1000">
                <a:solidFill>
                  <a:srgbClr val="94A3B8"/>
                </a:solidFill>
              </a:defRPr>
            </a:pPr>
            <a:r>
              <a:t>Each parking stall wired with dedicated 22kW AC port.</a:t>
            </a:r>
          </a:p>
        </p:txBody>
      </p:sp>
      <p:sp>
        <p:nvSpPr>
          <p:cNvPr id="24" name="Rounded Rectangle 23"/>
          <p:cNvSpPr/>
          <p:nvPr/>
        </p:nvSpPr>
        <p:spPr>
          <a:xfrm>
            <a:off x="7973568" y="4800600"/>
            <a:ext cx="3474720" cy="132588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56448" y="4937760"/>
            <a:ext cx="3108960" cy="1005840"/>
          </a:xfrm>
          <a:prstGeom prst="rect">
            <a:avLst/>
          </a:prstGeom>
          <a:noFill/>
        </p:spPr>
        <p:txBody>
          <a:bodyPr wrap="square" lIns="0" tIns="0" rIns="0" bIns="0">
            <a:spAutoFit/>
          </a:bodyPr>
          <a:lstStyle/>
          <a:p>
            <a:pPr>
              <a:spcAft>
                <a:spcPts val="200"/>
              </a:spcAft>
              <a:defRPr sz="1100" b="1">
                <a:solidFill>
                  <a:srgbClr val="FFFFFF"/>
                </a:solidFill>
              </a:defRPr>
            </a:pPr>
            <a:r>
              <a:t>SOLAR POTENTIAL:</a:t>
            </a:r>
          </a:p>
          <a:p>
            <a:pPr>
              <a:defRPr sz="1000">
                <a:solidFill>
                  <a:srgbClr val="94A3B8"/>
                </a:solidFill>
              </a:defRPr>
            </a:pPr>
            <a:r>
              <a:t>Rooftop generation captures clean power for peak shaving.</a:t>
            </a:r>
          </a:p>
        </p:txBody>
      </p:sp>
      <p:sp>
        <p:nvSpPr>
          <p:cNvPr id="26" name="TextBox 25"/>
          <p:cNvSpPr txBox="1"/>
          <p:nvPr/>
        </p:nvSpPr>
        <p:spPr>
          <a:xfrm>
            <a:off x="731520" y="6446520"/>
            <a:ext cx="10728655" cy="274320"/>
          </a:xfrm>
          <a:prstGeom prst="rect">
            <a:avLst/>
          </a:prstGeom>
          <a:noFill/>
        </p:spPr>
        <p:txBody>
          <a:bodyPr wrap="none" lIns="0" tIns="0" rIns="0" bIns="0">
            <a:spAutoFit/>
          </a:bodyPr>
          <a:lstStyle/>
          <a:p>
            <a:pPr>
              <a:defRPr sz="900">
                <a:solidFill>
                  <a:srgbClr val="475569"/>
                </a:solidFill>
              </a:defRPr>
            </a:pPr>
            <a:r>
              <a:t>EV CHARGING NETWORK : Slide 04 of 13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206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728655" cy="868680"/>
          </a:xfrm>
          <a:prstGeom prst="rect">
            <a:avLst/>
          </a:prstGeom>
          <a:noFill/>
        </p:spPr>
        <p:txBody>
          <a:bodyPr wrap="square" lIns="0" tIns="0" rIns="0" bIns="0">
            <a:spAutoFit/>
          </a:bodyPr>
          <a:lstStyle/>
          <a:p>
            <a:pPr>
              <a:spcAft>
                <a:spcPts val="200"/>
              </a:spcAft>
              <a:defRPr sz="1000" b="1">
                <a:solidFill>
                  <a:srgbClr val="22D3EE"/>
                </a:solidFill>
              </a:defRPr>
            </a:pPr>
            <a:r>
              <a:t>04 : HIGHWAY</a:t>
            </a:r>
          </a:p>
          <a:p>
            <a:pPr>
              <a:spcAft>
                <a:spcPts val="200"/>
              </a:spcAft>
              <a:defRPr sz="2200" b="1">
                <a:solidFill>
                  <a:srgbClr val="FFFFFF"/>
                </a:solidFill>
              </a:defRPr>
            </a:pPr>
            <a:r>
              <a:t>Model 2 - Secure Distributed Charging</a:t>
            </a:r>
          </a:p>
          <a:p>
            <a:pPr>
              <a:defRPr sz="1100">
                <a:solidFill>
                  <a:srgbClr val="94A3B8"/>
                </a:solidFill>
              </a:defRPr>
            </a:pPr>
            <a:r>
              <a:t>Turn unused charging capacity into verified network capacity.</a:t>
            </a:r>
          </a:p>
        </p:txBody>
      </p:sp>
      <p:sp>
        <p:nvSpPr>
          <p:cNvPr id="4" name="Rounded Rectangle 3"/>
          <p:cNvSpPr/>
          <p:nvPr/>
        </p:nvSpPr>
        <p:spPr>
          <a:xfrm>
            <a:off x="731520" y="1417320"/>
            <a:ext cx="2057400" cy="640080"/>
          </a:xfrm>
          <a:prstGeom prst="roundRect">
            <a:avLst/>
          </a:prstGeom>
          <a:solidFill>
            <a:srgbClr val="083344"/>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463040"/>
            <a:ext cx="1874519" cy="502920"/>
          </a:xfrm>
          <a:prstGeom prst="rect">
            <a:avLst/>
          </a:prstGeom>
          <a:noFill/>
        </p:spPr>
        <p:txBody>
          <a:bodyPr wrap="square" lIns="0" tIns="0" rIns="0" bIns="0">
            <a:spAutoFit/>
          </a:bodyPr>
          <a:lstStyle/>
          <a:p>
            <a:pPr>
              <a:defRPr sz="850" b="1">
                <a:solidFill>
                  <a:srgbClr val="22D3EE"/>
                </a:solidFill>
              </a:defRPr>
            </a:pPr>
            <a:r>
              <a:t>01 : LIST</a:t>
            </a:r>
          </a:p>
          <a:p>
            <a:pPr>
              <a:defRPr sz="1000" b="1">
                <a:solidFill>
                  <a:srgbClr val="FFFFFF"/>
                </a:solidFill>
              </a:defRPr>
            </a:pPr>
            <a:r>
              <a:t>Host Node</a:t>
            </a:r>
          </a:p>
        </p:txBody>
      </p:sp>
      <p:sp>
        <p:nvSpPr>
          <p:cNvPr id="6" name="Rounded Rectangle 5"/>
          <p:cNvSpPr/>
          <p:nvPr/>
        </p:nvSpPr>
        <p:spPr>
          <a:xfrm>
            <a:off x="2898648" y="1417320"/>
            <a:ext cx="2057400" cy="64008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990088" y="1463040"/>
            <a:ext cx="1874519" cy="502920"/>
          </a:xfrm>
          <a:prstGeom prst="rect">
            <a:avLst/>
          </a:prstGeom>
          <a:noFill/>
        </p:spPr>
        <p:txBody>
          <a:bodyPr wrap="square" lIns="0" tIns="0" rIns="0" bIns="0">
            <a:spAutoFit/>
          </a:bodyPr>
          <a:lstStyle/>
          <a:p>
            <a:pPr>
              <a:defRPr sz="850" b="1">
                <a:solidFill>
                  <a:srgbClr val="94A3B8"/>
                </a:solidFill>
              </a:defRPr>
            </a:pPr>
            <a:r>
              <a:t>02 : BOOK</a:t>
            </a:r>
          </a:p>
          <a:p>
            <a:pPr>
              <a:defRPr sz="1000" b="1">
                <a:solidFill>
                  <a:srgbClr val="CBD5E1"/>
                </a:solidFill>
              </a:defRPr>
            </a:pPr>
            <a:r>
              <a:t>Route Reserve</a:t>
            </a:r>
          </a:p>
        </p:txBody>
      </p:sp>
      <p:sp>
        <p:nvSpPr>
          <p:cNvPr id="8" name="Rounded Rectangle 7"/>
          <p:cNvSpPr/>
          <p:nvPr/>
        </p:nvSpPr>
        <p:spPr>
          <a:xfrm>
            <a:off x="5065776" y="1417320"/>
            <a:ext cx="2057400" cy="64008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157216" y="1463040"/>
            <a:ext cx="1874519" cy="502920"/>
          </a:xfrm>
          <a:prstGeom prst="rect">
            <a:avLst/>
          </a:prstGeom>
          <a:noFill/>
        </p:spPr>
        <p:txBody>
          <a:bodyPr wrap="square" lIns="0" tIns="0" rIns="0" bIns="0">
            <a:spAutoFit/>
          </a:bodyPr>
          <a:lstStyle/>
          <a:p>
            <a:pPr>
              <a:defRPr sz="850" b="1">
                <a:solidFill>
                  <a:srgbClr val="94A3B8"/>
                </a:solidFill>
              </a:defRPr>
            </a:pPr>
            <a:r>
              <a:t>03 : AUTH</a:t>
            </a:r>
          </a:p>
          <a:p>
            <a:pPr>
              <a:defRPr sz="1000" b="1">
                <a:solidFill>
                  <a:srgbClr val="CBD5E1"/>
                </a:solidFill>
              </a:defRPr>
            </a:pPr>
            <a:r>
              <a:t>BLE Token</a:t>
            </a:r>
          </a:p>
        </p:txBody>
      </p:sp>
      <p:sp>
        <p:nvSpPr>
          <p:cNvPr id="10" name="Rounded Rectangle 9"/>
          <p:cNvSpPr/>
          <p:nvPr/>
        </p:nvSpPr>
        <p:spPr>
          <a:xfrm>
            <a:off x="7232904" y="1417320"/>
            <a:ext cx="2057400" cy="64008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24344" y="1463040"/>
            <a:ext cx="1874519" cy="502920"/>
          </a:xfrm>
          <a:prstGeom prst="rect">
            <a:avLst/>
          </a:prstGeom>
          <a:noFill/>
        </p:spPr>
        <p:txBody>
          <a:bodyPr wrap="square" lIns="0" tIns="0" rIns="0" bIns="0">
            <a:spAutoFit/>
          </a:bodyPr>
          <a:lstStyle/>
          <a:p>
            <a:pPr>
              <a:defRPr sz="850" b="1">
                <a:solidFill>
                  <a:srgbClr val="94A3B8"/>
                </a:solidFill>
              </a:defRPr>
            </a:pPr>
            <a:r>
              <a:t>04 : CHARGE</a:t>
            </a:r>
          </a:p>
          <a:p>
            <a:pPr>
              <a:defRPr sz="1000" b="1">
                <a:solidFill>
                  <a:srgbClr val="CBD5E1"/>
                </a:solidFill>
              </a:defRPr>
            </a:pPr>
            <a:r>
              <a:t>Self-Plug</a:t>
            </a:r>
          </a:p>
        </p:txBody>
      </p:sp>
      <p:sp>
        <p:nvSpPr>
          <p:cNvPr id="12" name="Rounded Rectangle 11"/>
          <p:cNvSpPr/>
          <p:nvPr/>
        </p:nvSpPr>
        <p:spPr>
          <a:xfrm>
            <a:off x="9400032" y="1417320"/>
            <a:ext cx="2057400" cy="64008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491472" y="1463040"/>
            <a:ext cx="1874519" cy="502920"/>
          </a:xfrm>
          <a:prstGeom prst="rect">
            <a:avLst/>
          </a:prstGeom>
          <a:noFill/>
        </p:spPr>
        <p:txBody>
          <a:bodyPr wrap="square" lIns="0" tIns="0" rIns="0" bIns="0">
            <a:spAutoFit/>
          </a:bodyPr>
          <a:lstStyle/>
          <a:p>
            <a:pPr>
              <a:defRPr sz="850" b="1">
                <a:solidFill>
                  <a:srgbClr val="94A3B8"/>
                </a:solidFill>
              </a:defRPr>
            </a:pPr>
            <a:r>
              <a:t>05 : LOCK</a:t>
            </a:r>
          </a:p>
          <a:p>
            <a:pPr>
              <a:defRPr sz="1000" b="1">
                <a:solidFill>
                  <a:srgbClr val="CBD5E1"/>
                </a:solidFill>
              </a:defRPr>
            </a:pPr>
            <a:r>
              <a:t>Auto-Latch</a:t>
            </a:r>
          </a:p>
        </p:txBody>
      </p:sp>
      <p:pic>
        <p:nvPicPr>
          <p:cNvPr id="14" name="Picture 13" descr="residential_driveway_charger_4.80x2.60.jpg"/>
          <p:cNvPicPr>
            <a:picLocks noChangeAspect="1"/>
          </p:cNvPicPr>
          <p:nvPr/>
        </p:nvPicPr>
        <p:blipFill>
          <a:blip r:embed="rId2"/>
          <a:stretch>
            <a:fillRect/>
          </a:stretch>
        </p:blipFill>
        <p:spPr>
          <a:xfrm>
            <a:off x="731520" y="2240280"/>
            <a:ext cx="4389120" cy="2377440"/>
          </a:xfrm>
          <a:prstGeom prst="rect">
            <a:avLst/>
          </a:prstGeom>
        </p:spPr>
      </p:pic>
      <p:sp>
        <p:nvSpPr>
          <p:cNvPr id="15" name="Rectangle 14"/>
          <p:cNvSpPr/>
          <p:nvPr/>
        </p:nvSpPr>
        <p:spPr>
          <a:xfrm>
            <a:off x="731520" y="2240280"/>
            <a:ext cx="4389120" cy="2377440"/>
          </a:xfrm>
          <a:prstGeom prst="rect">
            <a:avLst/>
          </a:prstGeom>
          <a:no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68680" y="3794760"/>
            <a:ext cx="4114800" cy="68580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3867912"/>
            <a:ext cx="3840480" cy="539496"/>
          </a:xfrm>
          <a:prstGeom prst="rect">
            <a:avLst/>
          </a:prstGeom>
          <a:noFill/>
        </p:spPr>
        <p:txBody>
          <a:bodyPr wrap="square" lIns="0" tIns="0" rIns="0" bIns="0">
            <a:spAutoFit/>
          </a:bodyPr>
          <a:lstStyle/>
          <a:p>
            <a:pPr>
              <a:defRPr sz="850" b="1">
                <a:solidFill>
                  <a:srgbClr val="22D3EE"/>
                </a:solidFill>
              </a:defRPr>
            </a:pPr>
            <a:r>
              <a:t>VERIFIED HOST HARDWARE</a:t>
            </a:r>
          </a:p>
          <a:p>
            <a:pPr>
              <a:spcBef>
                <a:spcPts val="200"/>
              </a:spcBef>
              <a:defRPr sz="950">
                <a:solidFill>
                  <a:srgbClr val="FFFFFF"/>
                </a:solidFill>
              </a:defRPr>
            </a:pPr>
            <a:r>
              <a:t>Residential Level 2 charger unlocked for road trip stopovers.</a:t>
            </a:r>
          </a:p>
        </p:txBody>
      </p:sp>
      <p:sp>
        <p:nvSpPr>
          <p:cNvPr id="18" name="Rounded Rectangle 17"/>
          <p:cNvSpPr/>
          <p:nvPr/>
        </p:nvSpPr>
        <p:spPr>
          <a:xfrm>
            <a:off x="5303520" y="2240280"/>
            <a:ext cx="6156655" cy="237744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0" y="2377440"/>
            <a:ext cx="5790895" cy="2103120"/>
          </a:xfrm>
          <a:prstGeom prst="rect">
            <a:avLst/>
          </a:prstGeom>
          <a:noFill/>
        </p:spPr>
        <p:txBody>
          <a:bodyPr wrap="square" lIns="0" tIns="0" rIns="0" bIns="0">
            <a:spAutoFit/>
          </a:bodyPr>
          <a:lstStyle/>
          <a:p>
            <a:pPr>
              <a:defRPr sz="950" b="1">
                <a:solidFill>
                  <a:srgbClr val="22D3EE"/>
                </a:solidFill>
              </a:defRPr>
            </a:pPr>
            <a:r>
              <a:t>PHASE 01 : LISTING</a:t>
            </a:r>
          </a:p>
          <a:p>
            <a:pPr>
              <a:spcBef>
                <a:spcPts val="200"/>
              </a:spcBef>
              <a:spcAft>
                <a:spcPts val="400"/>
              </a:spcAft>
              <a:defRPr sz="1350" b="1">
                <a:solidFill>
                  <a:srgbClr val="FFFFFF"/>
                </a:solidFill>
              </a:defRPr>
            </a:pPr>
            <a:r>
              <a:t>Host Publishes Availability Window &amp; Tariff</a:t>
            </a:r>
          </a:p>
          <a:p>
            <a:pPr>
              <a:spcAft>
                <a:spcPts val="800"/>
              </a:spcAft>
              <a:defRPr sz="1050">
                <a:solidFill>
                  <a:srgbClr val="CBD5E1"/>
                </a:solidFill>
              </a:defRPr>
            </a:pPr>
            <a:r>
              <a:t>Homeowner configures idle hours (e.g., 9:00 AM - 5:00 PM). Smart controller links to platform with zero manual host intervention. Platform coordinates identity, payment escrow, and charger solenoid unlocking.</a:t>
            </a:r>
          </a:p>
          <a:p>
            <a:pPr>
              <a:defRPr sz="950" b="1">
                <a:solidFill>
                  <a:srgbClr val="67E8F9"/>
                </a:solidFill>
              </a:defRPr>
            </a:pPr>
            <a:r>
              <a:t>Hardware: 240V / 32A  |  Availability: Mon-Fri 8 hrs  |  Rate: Tariff + Margin</a:t>
            </a:r>
          </a:p>
        </p:txBody>
      </p:sp>
      <p:sp>
        <p:nvSpPr>
          <p:cNvPr id="20" name="Rounded Rectangle 19"/>
          <p:cNvSpPr/>
          <p:nvPr/>
        </p:nvSpPr>
        <p:spPr>
          <a:xfrm>
            <a:off x="731520" y="4800600"/>
            <a:ext cx="10728655" cy="132588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4937760"/>
            <a:ext cx="10362895" cy="1005840"/>
          </a:xfrm>
          <a:prstGeom prst="rect">
            <a:avLst/>
          </a:prstGeom>
          <a:noFill/>
        </p:spPr>
        <p:txBody>
          <a:bodyPr wrap="square" lIns="0" tIns="0" rIns="0" bIns="0">
            <a:spAutoFit/>
          </a:bodyPr>
          <a:lstStyle/>
          <a:p>
            <a:pPr>
              <a:defRPr sz="950" b="1">
                <a:solidFill>
                  <a:srgbClr val="22D3EE"/>
                </a:solidFill>
              </a:defRPr>
            </a:pPr>
            <a:r>
              <a:t>CRITICAL DESIGN DECISION</a:t>
            </a:r>
          </a:p>
          <a:p>
            <a:pPr>
              <a:spcBef>
                <a:spcPts val="100"/>
              </a:spcBef>
              <a:spcAft>
                <a:spcPts val="200"/>
              </a:spcAft>
              <a:defRPr sz="1200" b="1">
                <a:solidFill>
                  <a:srgbClr val="FFFFFF"/>
                </a:solidFill>
              </a:defRPr>
            </a:pPr>
            <a:r>
              <a:t>Autonomous Self-Service Access</a:t>
            </a:r>
          </a:p>
          <a:p>
            <a:pPr>
              <a:defRPr sz="1000">
                <a:solidFill>
                  <a:srgbClr val="CBD5E1"/>
                </a:solidFill>
              </a:defRPr>
            </a:pPr>
            <a:r>
              <a:t>A highway traveller should not need a company driver at every residential charger. The system therefore supports secure self-service: automated smart solenoid locks, Bluetooth cryptographic handshake, and virtual perimeter surveillance.</a:t>
            </a:r>
          </a:p>
        </p:txBody>
      </p:sp>
      <p:sp>
        <p:nvSpPr>
          <p:cNvPr id="22" name="TextBox 21"/>
          <p:cNvSpPr txBox="1"/>
          <p:nvPr/>
        </p:nvSpPr>
        <p:spPr>
          <a:xfrm>
            <a:off x="731520" y="6446520"/>
            <a:ext cx="10728655" cy="274320"/>
          </a:xfrm>
          <a:prstGeom prst="rect">
            <a:avLst/>
          </a:prstGeom>
          <a:noFill/>
        </p:spPr>
        <p:txBody>
          <a:bodyPr wrap="none" lIns="0" tIns="0" rIns="0" bIns="0">
            <a:spAutoFit/>
          </a:bodyPr>
          <a:lstStyle/>
          <a:p>
            <a:pPr>
              <a:defRPr sz="900">
                <a:solidFill>
                  <a:srgbClr val="475569"/>
                </a:solidFill>
              </a:defRPr>
            </a:pPr>
            <a:r>
              <a:t>EV CHARGING NETWORK : Slide 05 of 13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206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728655" cy="868680"/>
          </a:xfrm>
          <a:prstGeom prst="rect">
            <a:avLst/>
          </a:prstGeom>
          <a:noFill/>
        </p:spPr>
        <p:txBody>
          <a:bodyPr wrap="square" lIns="0" tIns="0" rIns="0" bIns="0">
            <a:spAutoFit/>
          </a:bodyPr>
          <a:lstStyle/>
          <a:p>
            <a:pPr>
              <a:spcAft>
                <a:spcPts val="200"/>
              </a:spcAft>
              <a:defRPr sz="1000" b="1">
                <a:solidFill>
                  <a:srgbClr val="22D3EE"/>
                </a:solidFill>
              </a:defRPr>
            </a:pPr>
            <a:r>
              <a:t>05 : TRUST</a:t>
            </a:r>
          </a:p>
          <a:p>
            <a:pPr>
              <a:spcAft>
                <a:spcPts val="200"/>
              </a:spcAft>
              <a:defRPr sz="2200" b="1">
                <a:solidFill>
                  <a:srgbClr val="FFFFFF"/>
                </a:solidFill>
              </a:defRPr>
            </a:pPr>
            <a:r>
              <a:t>Security: a charger is not an open door</a:t>
            </a:r>
          </a:p>
          <a:p>
            <a:pPr>
              <a:defRPr sz="1100">
                <a:solidFill>
                  <a:srgbClr val="94A3B8"/>
                </a:solidFill>
              </a:defRPr>
            </a:pPr>
            <a:r>
              <a:t>Interactive Virtual Perimeter: 3-Zone CCTV monitoring framework</a:t>
            </a:r>
          </a:p>
        </p:txBody>
      </p:sp>
      <p:sp>
        <p:nvSpPr>
          <p:cNvPr id="4" name="Rounded Rectangle 3"/>
          <p:cNvSpPr/>
          <p:nvPr/>
        </p:nvSpPr>
        <p:spPr>
          <a:xfrm>
            <a:off x="731520" y="1417320"/>
            <a:ext cx="3474720" cy="640080"/>
          </a:xfrm>
          <a:prstGeom prst="roundRect">
            <a:avLst/>
          </a:prstGeom>
          <a:solidFill>
            <a:srgbClr val="0F172A"/>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463040"/>
            <a:ext cx="3200400" cy="502920"/>
          </a:xfrm>
          <a:prstGeom prst="rect">
            <a:avLst/>
          </a:prstGeom>
          <a:noFill/>
        </p:spPr>
        <p:txBody>
          <a:bodyPr wrap="square" lIns="0" tIns="0" rIns="0" bIns="0">
            <a:spAutoFit/>
          </a:bodyPr>
          <a:lstStyle/>
          <a:p>
            <a:pPr>
              <a:defRPr sz="950" b="1">
                <a:solidFill>
                  <a:srgbClr val="34D399"/>
                </a:solidFill>
              </a:defRPr>
            </a:pPr>
            <a:r>
              <a:t>ZONE 1 : GREEN</a:t>
            </a:r>
          </a:p>
          <a:p>
            <a:pPr>
              <a:defRPr sz="1000" b="1">
                <a:solidFill>
                  <a:srgbClr val="FFFFFF"/>
                </a:solidFill>
              </a:defRPr>
            </a:pPr>
            <a:r>
              <a:t>Safe Authorized Stall</a:t>
            </a:r>
          </a:p>
        </p:txBody>
      </p:sp>
      <p:sp>
        <p:nvSpPr>
          <p:cNvPr id="6" name="Rounded Rectangle 5"/>
          <p:cNvSpPr/>
          <p:nvPr/>
        </p:nvSpPr>
        <p:spPr>
          <a:xfrm>
            <a:off x="4352544" y="1417320"/>
            <a:ext cx="3474720" cy="64008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489704" y="1463040"/>
            <a:ext cx="3200400" cy="502920"/>
          </a:xfrm>
          <a:prstGeom prst="rect">
            <a:avLst/>
          </a:prstGeom>
          <a:noFill/>
        </p:spPr>
        <p:txBody>
          <a:bodyPr wrap="square" lIns="0" tIns="0" rIns="0" bIns="0">
            <a:spAutoFit/>
          </a:bodyPr>
          <a:lstStyle/>
          <a:p>
            <a:pPr>
              <a:defRPr sz="950" b="1">
                <a:solidFill>
                  <a:srgbClr val="FBBF24"/>
                </a:solidFill>
              </a:defRPr>
            </a:pPr>
            <a:r>
              <a:t>ZONE 2 : YELLOW</a:t>
            </a:r>
          </a:p>
          <a:p>
            <a:pPr>
              <a:defRPr sz="1000" b="1">
                <a:solidFill>
                  <a:srgbClr val="94A3B8"/>
                </a:solidFill>
              </a:defRPr>
            </a:pPr>
            <a:r>
              <a:t>Warning Buffer (3m)</a:t>
            </a:r>
          </a:p>
        </p:txBody>
      </p:sp>
      <p:sp>
        <p:nvSpPr>
          <p:cNvPr id="8" name="Rounded Rectangle 7"/>
          <p:cNvSpPr/>
          <p:nvPr/>
        </p:nvSpPr>
        <p:spPr>
          <a:xfrm>
            <a:off x="7973568" y="1417320"/>
            <a:ext cx="3474720" cy="64008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10728" y="1463040"/>
            <a:ext cx="3200400" cy="502920"/>
          </a:xfrm>
          <a:prstGeom prst="rect">
            <a:avLst/>
          </a:prstGeom>
          <a:noFill/>
        </p:spPr>
        <p:txBody>
          <a:bodyPr wrap="square" lIns="0" tIns="0" rIns="0" bIns="0">
            <a:spAutoFit/>
          </a:bodyPr>
          <a:lstStyle/>
          <a:p>
            <a:pPr>
              <a:defRPr sz="950" b="1">
                <a:solidFill>
                  <a:srgbClr val="F87171"/>
                </a:solidFill>
              </a:defRPr>
            </a:pPr>
            <a:r>
              <a:t>ZONE 3 : RED</a:t>
            </a:r>
          </a:p>
          <a:p>
            <a:pPr>
              <a:defRPr sz="1000" b="1">
                <a:solidFill>
                  <a:srgbClr val="94A3B8"/>
                </a:solidFill>
              </a:defRPr>
            </a:pPr>
            <a:r>
              <a:t>Restricted Residence</a:t>
            </a:r>
          </a:p>
        </p:txBody>
      </p:sp>
      <p:pic>
        <p:nvPicPr>
          <p:cNvPr id="10" name="Picture 9" descr="cctv_security_driveway_5.50x2.60.jpg"/>
          <p:cNvPicPr>
            <a:picLocks noChangeAspect="1"/>
          </p:cNvPicPr>
          <p:nvPr/>
        </p:nvPicPr>
        <p:blipFill>
          <a:blip r:embed="rId2"/>
          <a:stretch>
            <a:fillRect/>
          </a:stretch>
        </p:blipFill>
        <p:spPr>
          <a:xfrm>
            <a:off x="731520" y="2240280"/>
            <a:ext cx="5029200" cy="2377440"/>
          </a:xfrm>
          <a:prstGeom prst="rect">
            <a:avLst/>
          </a:prstGeom>
        </p:spPr>
      </p:pic>
      <p:sp>
        <p:nvSpPr>
          <p:cNvPr id="11" name="Rectangle 10"/>
          <p:cNvSpPr/>
          <p:nvPr/>
        </p:nvSpPr>
        <p:spPr>
          <a:xfrm>
            <a:off x="731520" y="2240280"/>
            <a:ext cx="5029200" cy="2377440"/>
          </a:xfrm>
          <a:prstGeom prst="rect">
            <a:avLst/>
          </a:prstGeom>
          <a:no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68680" y="3794760"/>
            <a:ext cx="4754880" cy="68580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867912"/>
            <a:ext cx="4480560" cy="539496"/>
          </a:xfrm>
          <a:prstGeom prst="rect">
            <a:avLst/>
          </a:prstGeom>
          <a:noFill/>
        </p:spPr>
        <p:txBody>
          <a:bodyPr wrap="square" lIns="0" tIns="0" rIns="0" bIns="0">
            <a:spAutoFit/>
          </a:bodyPr>
          <a:lstStyle/>
          <a:p>
            <a:pPr>
              <a:defRPr sz="850" b="1">
                <a:solidFill>
                  <a:srgbClr val="34D399"/>
                </a:solidFill>
              </a:defRPr>
            </a:pPr>
            <a:r>
              <a:t>CAM 01 : GREEN SAFE ZONE  |  REC 1080P</a:t>
            </a:r>
          </a:p>
          <a:p>
            <a:pPr>
              <a:spcBef>
                <a:spcPts val="200"/>
              </a:spcBef>
              <a:defRPr sz="950">
                <a:solidFill>
                  <a:srgbClr val="FFFFFF"/>
                </a:solidFill>
              </a:defRPr>
            </a:pPr>
            <a:r>
              <a:t>Vehicle in Bay : Normal Charging Allowed</a:t>
            </a:r>
          </a:p>
        </p:txBody>
      </p:sp>
      <p:sp>
        <p:nvSpPr>
          <p:cNvPr id="14" name="Rounded Rectangle 13"/>
          <p:cNvSpPr/>
          <p:nvPr/>
        </p:nvSpPr>
        <p:spPr>
          <a:xfrm>
            <a:off x="5943600" y="2240280"/>
            <a:ext cx="5516575" cy="237744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6480" y="2377440"/>
            <a:ext cx="5150815" cy="2103120"/>
          </a:xfrm>
          <a:prstGeom prst="rect">
            <a:avLst/>
          </a:prstGeom>
          <a:noFill/>
        </p:spPr>
        <p:txBody>
          <a:bodyPr wrap="square" lIns="0" tIns="0" rIns="0" bIns="0">
            <a:spAutoFit/>
          </a:bodyPr>
          <a:lstStyle/>
          <a:p>
            <a:pPr>
              <a:defRPr sz="950" b="1">
                <a:solidFill>
                  <a:srgbClr val="34D399"/>
                </a:solidFill>
              </a:defRPr>
            </a:pPr>
            <a:r>
              <a:t>ACTIVE ZONE : GREEN (SAFE)</a:t>
            </a:r>
          </a:p>
          <a:p>
            <a:pPr>
              <a:spcBef>
                <a:spcPts val="200"/>
              </a:spcBef>
              <a:spcAft>
                <a:spcPts val="400"/>
              </a:spcAft>
              <a:defRPr sz="1300" b="1">
                <a:solidFill>
                  <a:srgbClr val="FFFFFF"/>
                </a:solidFill>
              </a:defRPr>
            </a:pPr>
            <a:r>
              <a:t>Driveway Staging Bay &amp; Charger Port Area</a:t>
            </a:r>
          </a:p>
          <a:p>
            <a:pPr>
              <a:spcAft>
                <a:spcPts val="800"/>
              </a:spcAft>
              <a:defRPr sz="1000">
                <a:solidFill>
                  <a:srgbClr val="CBD5E1"/>
                </a:solidFill>
              </a:defRPr>
            </a:pPr>
            <a:r>
              <a:t>Vehicle parked in bay. Charging cable connected. No unauthorized proximity detected. Host family perimeter is untouched. Optical AI verifies human presence is restricted exclusively to vehicle charging port.</a:t>
            </a:r>
          </a:p>
          <a:p>
            <a:pPr>
              <a:defRPr sz="950" b="1">
                <a:solidFill>
                  <a:srgbClr val="34D399"/>
                </a:solidFill>
              </a:defRPr>
            </a:pPr>
            <a:r>
              <a:t>Perimeter Status: Normal  |  Audio Alert: Inactive  |  Solenoid Lock: Engaged</a:t>
            </a:r>
          </a:p>
        </p:txBody>
      </p:sp>
      <p:sp>
        <p:nvSpPr>
          <p:cNvPr id="16" name="Rounded Rectangle 15"/>
          <p:cNvSpPr/>
          <p:nvPr/>
        </p:nvSpPr>
        <p:spPr>
          <a:xfrm>
            <a:off x="731520" y="4800600"/>
            <a:ext cx="10728655" cy="132588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937760"/>
            <a:ext cx="10362895" cy="1005840"/>
          </a:xfrm>
          <a:prstGeom prst="rect">
            <a:avLst/>
          </a:prstGeom>
          <a:noFill/>
        </p:spPr>
        <p:txBody>
          <a:bodyPr wrap="square" lIns="0" tIns="0" rIns="0" bIns="0">
            <a:spAutoFit/>
          </a:bodyPr>
          <a:lstStyle/>
          <a:p>
            <a:pPr>
              <a:defRPr sz="950" b="1">
                <a:solidFill>
                  <a:srgbClr val="22D3EE"/>
                </a:solidFill>
              </a:defRPr>
            </a:pPr>
            <a:r>
              <a:t>CONCEPTUAL SAFETY FRAMEWORK</a:t>
            </a:r>
          </a:p>
          <a:p>
            <a:pPr>
              <a:spcBef>
                <a:spcPts val="100"/>
              </a:spcBef>
              <a:spcAft>
                <a:spcPts val="200"/>
              </a:spcAft>
              <a:defRPr sz="1200" b="1">
                <a:solidFill>
                  <a:srgbClr val="FFFFFF"/>
                </a:solidFill>
              </a:defRPr>
            </a:pPr>
            <a:r>
              <a:t>CCTV + Virtual Perimeter Monitoring</a:t>
            </a:r>
          </a:p>
          <a:p>
            <a:pPr>
              <a:defRPr sz="1000">
                <a:solidFill>
                  <a:srgbClr val="CBD5E1"/>
                </a:solidFill>
              </a:defRPr>
            </a:pPr>
            <a:r>
              <a:t>CCTV + virtual perimeter monitoring keeps the charging interaction controlled. The zones are a conceptual safety framework designed to reduce unwanted movement and false alarms: green allows charging, yellow sounds polite audio guidance, red trips security alerts and terminates the session.</a:t>
            </a:r>
          </a:p>
        </p:txBody>
      </p:sp>
      <p:sp>
        <p:nvSpPr>
          <p:cNvPr id="18" name="TextBox 17"/>
          <p:cNvSpPr txBox="1"/>
          <p:nvPr/>
        </p:nvSpPr>
        <p:spPr>
          <a:xfrm>
            <a:off x="731520" y="6446520"/>
            <a:ext cx="10728655" cy="274320"/>
          </a:xfrm>
          <a:prstGeom prst="rect">
            <a:avLst/>
          </a:prstGeom>
          <a:noFill/>
        </p:spPr>
        <p:txBody>
          <a:bodyPr wrap="none" lIns="0" tIns="0" rIns="0" bIns="0">
            <a:spAutoFit/>
          </a:bodyPr>
          <a:lstStyle/>
          <a:p>
            <a:pPr>
              <a:defRPr sz="900">
                <a:solidFill>
                  <a:srgbClr val="475569"/>
                </a:solidFill>
              </a:defRPr>
            </a:pPr>
            <a:r>
              <a:t>EV CHARGING NETWORK : Slide 06 of 13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206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728655" cy="868680"/>
          </a:xfrm>
          <a:prstGeom prst="rect">
            <a:avLst/>
          </a:prstGeom>
          <a:noFill/>
        </p:spPr>
        <p:txBody>
          <a:bodyPr wrap="square" lIns="0" tIns="0" rIns="0" bIns="0">
            <a:spAutoFit/>
          </a:bodyPr>
          <a:lstStyle/>
          <a:p>
            <a:pPr>
              <a:spcAft>
                <a:spcPts val="200"/>
              </a:spcAft>
              <a:defRPr sz="1000" b="1">
                <a:solidFill>
                  <a:srgbClr val="22D3EE"/>
                </a:solidFill>
              </a:defRPr>
            </a:pPr>
            <a:r>
              <a:t>06 : ACCESS</a:t>
            </a:r>
          </a:p>
          <a:p>
            <a:pPr>
              <a:spcAft>
                <a:spcPts val="200"/>
              </a:spcAft>
              <a:defRPr sz="2200" b="1">
                <a:solidFill>
                  <a:srgbClr val="FFFFFF"/>
                </a:solidFill>
              </a:defRPr>
            </a:pPr>
            <a:r>
              <a:t>Smart charger control</a:t>
            </a:r>
          </a:p>
          <a:p>
            <a:pPr>
              <a:defRPr sz="1100">
                <a:solidFill>
                  <a:srgbClr val="94A3B8"/>
                </a:solidFill>
              </a:defRPr>
            </a:pPr>
            <a:r>
              <a:t>Hardware-level access security and dual-mode separation</a:t>
            </a:r>
          </a:p>
        </p:txBody>
      </p:sp>
      <p:sp>
        <p:nvSpPr>
          <p:cNvPr id="4" name="Rounded Rectangle 3"/>
          <p:cNvSpPr/>
          <p:nvPr/>
        </p:nvSpPr>
        <p:spPr>
          <a:xfrm>
            <a:off x="731520" y="1417320"/>
            <a:ext cx="5257800" cy="640080"/>
          </a:xfrm>
          <a:prstGeom prst="roundRect">
            <a:avLst/>
          </a:prstGeom>
          <a:solidFill>
            <a:srgbClr val="083344"/>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463040"/>
            <a:ext cx="4983480" cy="502920"/>
          </a:xfrm>
          <a:prstGeom prst="rect">
            <a:avLst/>
          </a:prstGeom>
          <a:noFill/>
        </p:spPr>
        <p:txBody>
          <a:bodyPr wrap="square" lIns="0" tIns="0" rIns="0" bIns="0">
            <a:spAutoFit/>
          </a:bodyPr>
          <a:lstStyle/>
          <a:p>
            <a:pPr>
              <a:defRPr sz="900" b="1">
                <a:solidFill>
                  <a:srgbClr val="22D3EE"/>
                </a:solidFill>
              </a:defRPr>
            </a:pPr>
            <a:r>
              <a:t>MODE 01 : OWNER</a:t>
            </a:r>
          </a:p>
          <a:p>
            <a:pPr>
              <a:defRPr sz="1050" b="1">
                <a:solidFill>
                  <a:srgbClr val="FFFFFF"/>
                </a:solidFill>
              </a:defRPr>
            </a:pPr>
            <a:r>
              <a:t>Owner Authenticates -&gt; Uses -&gt; Locks</a:t>
            </a:r>
          </a:p>
        </p:txBody>
      </p:sp>
      <p:sp>
        <p:nvSpPr>
          <p:cNvPr id="6" name="Rounded Rectangle 5"/>
          <p:cNvSpPr/>
          <p:nvPr/>
        </p:nvSpPr>
        <p:spPr>
          <a:xfrm>
            <a:off x="6202375" y="1417320"/>
            <a:ext cx="5257800" cy="64008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39535" y="1463040"/>
            <a:ext cx="4983480" cy="502920"/>
          </a:xfrm>
          <a:prstGeom prst="rect">
            <a:avLst/>
          </a:prstGeom>
          <a:noFill/>
        </p:spPr>
        <p:txBody>
          <a:bodyPr wrap="square" lIns="0" tIns="0" rIns="0" bIns="0">
            <a:spAutoFit/>
          </a:bodyPr>
          <a:lstStyle/>
          <a:p>
            <a:pPr>
              <a:defRPr sz="900" b="1">
                <a:solidFill>
                  <a:srgbClr val="94A3B8"/>
                </a:solidFill>
              </a:defRPr>
            </a:pPr>
            <a:r>
              <a:t>MODE 02 : TRAVELLER</a:t>
            </a:r>
          </a:p>
          <a:p>
            <a:pPr>
              <a:defRPr sz="1050" b="1">
                <a:solidFill>
                  <a:srgbClr val="CBD5E1"/>
                </a:solidFill>
              </a:defRPr>
            </a:pPr>
            <a:r>
              <a:t>Temporary Token Authorization -&gt; Locks</a:t>
            </a:r>
          </a:p>
        </p:txBody>
      </p:sp>
      <p:pic>
        <p:nvPicPr>
          <p:cNvPr id="8" name="Picture 7" descr="smart_phone_nfc_charger_4.80x2.60.jpg"/>
          <p:cNvPicPr>
            <a:picLocks noChangeAspect="1"/>
          </p:cNvPicPr>
          <p:nvPr/>
        </p:nvPicPr>
        <p:blipFill>
          <a:blip r:embed="rId2"/>
          <a:stretch>
            <a:fillRect/>
          </a:stretch>
        </p:blipFill>
        <p:spPr>
          <a:xfrm>
            <a:off x="731520" y="2240280"/>
            <a:ext cx="4389120" cy="2377440"/>
          </a:xfrm>
          <a:prstGeom prst="rect">
            <a:avLst/>
          </a:prstGeom>
        </p:spPr>
      </p:pic>
      <p:sp>
        <p:nvSpPr>
          <p:cNvPr id="9" name="Rectangle 8"/>
          <p:cNvSpPr/>
          <p:nvPr/>
        </p:nvSpPr>
        <p:spPr>
          <a:xfrm>
            <a:off x="731520" y="2240280"/>
            <a:ext cx="4389120" cy="2377440"/>
          </a:xfrm>
          <a:prstGeom prst="rect">
            <a:avLst/>
          </a:prstGeom>
          <a:no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68680" y="3794760"/>
            <a:ext cx="4114800" cy="68580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67912"/>
            <a:ext cx="3840480" cy="539496"/>
          </a:xfrm>
          <a:prstGeom prst="rect">
            <a:avLst/>
          </a:prstGeom>
          <a:noFill/>
        </p:spPr>
        <p:txBody>
          <a:bodyPr wrap="square" lIns="0" tIns="0" rIns="0" bIns="0">
            <a:spAutoFit/>
          </a:bodyPr>
          <a:lstStyle/>
          <a:p>
            <a:pPr>
              <a:defRPr sz="850" b="1">
                <a:solidFill>
                  <a:srgbClr val="22D3EE"/>
                </a:solidFill>
              </a:defRPr>
            </a:pPr>
            <a:r>
              <a:t>NFC &amp; BLE TAP INTERFACE</a:t>
            </a:r>
          </a:p>
          <a:p>
            <a:pPr>
              <a:spcBef>
                <a:spcPts val="200"/>
              </a:spcBef>
              <a:defRPr sz="950">
                <a:solidFill>
                  <a:srgbClr val="FFFFFF"/>
                </a:solidFill>
              </a:defRPr>
            </a:pPr>
            <a:r>
              <a:t>Hardware unlocks only upon verified digital key handshake.</a:t>
            </a:r>
          </a:p>
        </p:txBody>
      </p:sp>
      <p:sp>
        <p:nvSpPr>
          <p:cNvPr id="12" name="Rounded Rectangle 11"/>
          <p:cNvSpPr/>
          <p:nvPr/>
        </p:nvSpPr>
        <p:spPr>
          <a:xfrm>
            <a:off x="5303520" y="2240280"/>
            <a:ext cx="6156655" cy="237744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0" y="2377440"/>
            <a:ext cx="5790895" cy="2103120"/>
          </a:xfrm>
          <a:prstGeom prst="rect">
            <a:avLst/>
          </a:prstGeom>
          <a:noFill/>
        </p:spPr>
        <p:txBody>
          <a:bodyPr wrap="square" lIns="0" tIns="0" rIns="0" bIns="0">
            <a:spAutoFit/>
          </a:bodyPr>
          <a:lstStyle/>
          <a:p>
            <a:pPr>
              <a:defRPr sz="950" b="1">
                <a:solidFill>
                  <a:srgbClr val="22D3EE"/>
                </a:solidFill>
              </a:defRPr>
            </a:pPr>
            <a:r>
              <a:t>FIRMWARE MODE : OWNER MODE</a:t>
            </a:r>
          </a:p>
          <a:p>
            <a:pPr>
              <a:spcBef>
                <a:spcPts val="200"/>
              </a:spcBef>
              <a:spcAft>
                <a:spcPts val="400"/>
              </a:spcAft>
              <a:defRPr sz="1350" b="1">
                <a:solidFill>
                  <a:srgbClr val="FFFFFF"/>
                </a:solidFill>
              </a:defRPr>
            </a:pPr>
            <a:r>
              <a:t>Owner NFC / Smartphone Bypass</a:t>
            </a:r>
          </a:p>
          <a:p>
            <a:pPr>
              <a:spcAft>
                <a:spcPts val="800"/>
              </a:spcAft>
              <a:defRPr sz="1050">
                <a:solidFill>
                  <a:srgbClr val="CBD5E1"/>
                </a:solidFill>
              </a:defRPr>
            </a:pPr>
            <a:r>
              <a:t>Owner registers master keycard or smartphone. Instant proximity tap releases holster latch. No billing fees or reservations required for personal electricity usage. System switches automatically to Guest Mode when reservation begins.</a:t>
            </a:r>
          </a:p>
          <a:p>
            <a:pPr>
              <a:defRPr sz="950" b="1">
                <a:solidFill>
                  <a:srgbClr val="67E8F9"/>
                </a:solidFill>
              </a:defRPr>
            </a:pPr>
            <a:r>
              <a:t>Authorization: Master Key  |  Billing: Direct Home  |  Latch: Instant Tap</a:t>
            </a:r>
          </a:p>
        </p:txBody>
      </p:sp>
      <p:sp>
        <p:nvSpPr>
          <p:cNvPr id="14" name="Rounded Rectangle 13"/>
          <p:cNvSpPr/>
          <p:nvPr/>
        </p:nvSpPr>
        <p:spPr>
          <a:xfrm>
            <a:off x="731520" y="4800600"/>
            <a:ext cx="10728655" cy="132588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937760"/>
            <a:ext cx="10362895" cy="1005840"/>
          </a:xfrm>
          <a:prstGeom prst="rect">
            <a:avLst/>
          </a:prstGeom>
          <a:noFill/>
        </p:spPr>
        <p:txBody>
          <a:bodyPr wrap="square" lIns="0" tIns="0" rIns="0" bIns="0">
            <a:spAutoFit/>
          </a:bodyPr>
          <a:lstStyle/>
          <a:p>
            <a:pPr>
              <a:defRPr sz="950" b="1">
                <a:solidFill>
                  <a:srgbClr val="22D3EE"/>
                </a:solidFill>
              </a:defRPr>
            </a:pPr>
            <a:r>
              <a:t>SAFETY SPECIFICATION</a:t>
            </a:r>
          </a:p>
          <a:p>
            <a:pPr>
              <a:spcBef>
                <a:spcPts val="100"/>
              </a:spcBef>
              <a:spcAft>
                <a:spcPts val="200"/>
              </a:spcAft>
              <a:defRPr sz="1200" b="1">
                <a:solidFill>
                  <a:srgbClr val="FFFFFF"/>
                </a:solidFill>
              </a:defRPr>
            </a:pPr>
            <a:r>
              <a:t>Dual-Channel Separation</a:t>
            </a:r>
          </a:p>
          <a:p>
            <a:pPr>
              <a:defRPr sz="1000">
                <a:solidFill>
                  <a:srgbClr val="CBD5E1"/>
                </a:solidFill>
              </a:defRPr>
            </a:pPr>
            <a:r>
              <a:t>Safety: the external module is a security/monitoring controller. High-current charging remains under a properly rated EVSE and supported control mechanisms. Solenoid holster latch prevents unauthorized plug removal until session completion.</a:t>
            </a:r>
          </a:p>
        </p:txBody>
      </p:sp>
      <p:sp>
        <p:nvSpPr>
          <p:cNvPr id="16" name="TextBox 15"/>
          <p:cNvSpPr txBox="1"/>
          <p:nvPr/>
        </p:nvSpPr>
        <p:spPr>
          <a:xfrm>
            <a:off x="731520" y="6446520"/>
            <a:ext cx="10728655" cy="274320"/>
          </a:xfrm>
          <a:prstGeom prst="rect">
            <a:avLst/>
          </a:prstGeom>
          <a:noFill/>
        </p:spPr>
        <p:txBody>
          <a:bodyPr wrap="none" lIns="0" tIns="0" rIns="0" bIns="0">
            <a:spAutoFit/>
          </a:bodyPr>
          <a:lstStyle/>
          <a:p>
            <a:pPr>
              <a:defRPr sz="900">
                <a:solidFill>
                  <a:srgbClr val="475569"/>
                </a:solidFill>
              </a:defRPr>
            </a:pPr>
            <a:r>
              <a:t>EV CHARGING NETWORK : Slide 07 of 13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206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728655" cy="868680"/>
          </a:xfrm>
          <a:prstGeom prst="rect">
            <a:avLst/>
          </a:prstGeom>
          <a:noFill/>
        </p:spPr>
        <p:txBody>
          <a:bodyPr wrap="square" lIns="0" tIns="0" rIns="0" bIns="0">
            <a:spAutoFit/>
          </a:bodyPr>
          <a:lstStyle/>
          <a:p>
            <a:pPr>
              <a:spcAft>
                <a:spcPts val="200"/>
              </a:spcAft>
              <a:defRPr sz="1000" b="1">
                <a:solidFill>
                  <a:srgbClr val="22D3EE"/>
                </a:solidFill>
              </a:defRPr>
            </a:pPr>
            <a:r>
              <a:t>07 : VERIFICATION</a:t>
            </a:r>
          </a:p>
          <a:p>
            <a:pPr>
              <a:spcAft>
                <a:spcPts val="200"/>
              </a:spcAft>
              <a:defRPr sz="2200" b="1">
                <a:solidFill>
                  <a:srgbClr val="FFFFFF"/>
                </a:solidFill>
              </a:defRPr>
            </a:pPr>
            <a:r>
              <a:t>Every session leaves evidence</a:t>
            </a:r>
          </a:p>
          <a:p>
            <a:pPr>
              <a:defRPr sz="1100">
                <a:solidFill>
                  <a:srgbClr val="94A3B8"/>
                </a:solidFill>
              </a:defRPr>
            </a:pPr>
            <a:r>
              <a:t>Tripartite photographic inspection workbench &amp; computer vision comparison</a:t>
            </a:r>
          </a:p>
        </p:txBody>
      </p:sp>
      <p:pic>
        <p:nvPicPr>
          <p:cNvPr id="4" name="Picture 3" descr="ev_port_inspection_4.80x3.45.jpg"/>
          <p:cNvPicPr>
            <a:picLocks noChangeAspect="1"/>
          </p:cNvPicPr>
          <p:nvPr/>
        </p:nvPicPr>
        <p:blipFill>
          <a:blip r:embed="rId2"/>
          <a:stretch>
            <a:fillRect/>
          </a:stretch>
        </p:blipFill>
        <p:spPr>
          <a:xfrm>
            <a:off x="731520" y="1463040"/>
            <a:ext cx="4389120" cy="3154680"/>
          </a:xfrm>
          <a:prstGeom prst="rect">
            <a:avLst/>
          </a:prstGeom>
        </p:spPr>
      </p:pic>
      <p:sp>
        <p:nvSpPr>
          <p:cNvPr id="5" name="Rectangle 4"/>
          <p:cNvSpPr/>
          <p:nvPr/>
        </p:nvSpPr>
        <p:spPr>
          <a:xfrm>
            <a:off x="731520" y="1463040"/>
            <a:ext cx="4389120" cy="3154680"/>
          </a:xfrm>
          <a:prstGeom prst="rect">
            <a:avLst/>
          </a:prstGeom>
          <a:no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68680" y="3794760"/>
            <a:ext cx="4114800" cy="68580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3867912"/>
            <a:ext cx="3840480" cy="539496"/>
          </a:xfrm>
          <a:prstGeom prst="rect">
            <a:avLst/>
          </a:prstGeom>
          <a:noFill/>
        </p:spPr>
        <p:txBody>
          <a:bodyPr wrap="square" lIns="0" tIns="0" rIns="0" bIns="0">
            <a:spAutoFit/>
          </a:bodyPr>
          <a:lstStyle/>
          <a:p>
            <a:pPr>
              <a:defRPr sz="850" b="1">
                <a:solidFill>
                  <a:srgbClr val="22D3EE"/>
                </a:solidFill>
              </a:defRPr>
            </a:pPr>
            <a:r>
              <a:t>PORT LATCH &amp; CONTACT VERIFICATION</a:t>
            </a:r>
          </a:p>
          <a:p>
            <a:pPr>
              <a:spcBef>
                <a:spcPts val="200"/>
              </a:spcBef>
              <a:defRPr sz="950">
                <a:solidFill>
                  <a:srgbClr val="FFFFFF"/>
                </a:solidFill>
              </a:defRPr>
            </a:pPr>
            <a:r>
              <a:t>Automated high-resolution macro visual evidence logging.</a:t>
            </a:r>
          </a:p>
        </p:txBody>
      </p:sp>
      <p:sp>
        <p:nvSpPr>
          <p:cNvPr id="8" name="Rounded Rectangle 7"/>
          <p:cNvSpPr/>
          <p:nvPr/>
        </p:nvSpPr>
        <p:spPr>
          <a:xfrm>
            <a:off x="5303520" y="1463040"/>
            <a:ext cx="6156655" cy="96012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0" y="1554480"/>
            <a:ext cx="5790895" cy="777240"/>
          </a:xfrm>
          <a:prstGeom prst="rect">
            <a:avLst/>
          </a:prstGeom>
          <a:noFill/>
        </p:spPr>
        <p:txBody>
          <a:bodyPr wrap="square" lIns="0" tIns="0" rIns="0" bIns="0">
            <a:spAutoFit/>
          </a:bodyPr>
          <a:lstStyle/>
          <a:p>
            <a:pPr>
              <a:defRPr sz="1000" b="1">
                <a:solidFill>
                  <a:srgbClr val="22D3EE"/>
                </a:solidFill>
              </a:defRPr>
            </a:pPr>
            <a:r>
              <a:t>[ 01 : BEFORE ] Pre-Session Baseline Scan</a:t>
            </a:r>
          </a:p>
          <a:p>
            <a:pPr>
              <a:spcBef>
                <a:spcPts val="200"/>
              </a:spcBef>
              <a:defRPr sz="950">
                <a:solidFill>
                  <a:srgbClr val="CBD5E1"/>
                </a:solidFill>
              </a:defRPr>
            </a:pPr>
            <a:r>
              <a:t>Vehicle port flap, connector pins, cable sheath, and driveway baseline recorded prior to charging.</a:t>
            </a:r>
          </a:p>
        </p:txBody>
      </p:sp>
      <p:sp>
        <p:nvSpPr>
          <p:cNvPr id="10" name="Rounded Rectangle 9"/>
          <p:cNvSpPr/>
          <p:nvPr/>
        </p:nvSpPr>
        <p:spPr>
          <a:xfrm>
            <a:off x="5303520" y="2560320"/>
            <a:ext cx="6156655" cy="96012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0" y="2651760"/>
            <a:ext cx="5790895" cy="777240"/>
          </a:xfrm>
          <a:prstGeom prst="rect">
            <a:avLst/>
          </a:prstGeom>
          <a:noFill/>
        </p:spPr>
        <p:txBody>
          <a:bodyPr wrap="square" lIns="0" tIns="0" rIns="0" bIns="0">
            <a:spAutoFit/>
          </a:bodyPr>
          <a:lstStyle/>
          <a:p>
            <a:pPr>
              <a:defRPr sz="1000" b="1">
                <a:solidFill>
                  <a:srgbClr val="22D3EE"/>
                </a:solidFill>
              </a:defRPr>
            </a:pPr>
            <a:r>
              <a:t>[ 02 : CHARGING ] Continuous Session Logging</a:t>
            </a:r>
          </a:p>
          <a:p>
            <a:pPr>
              <a:spcBef>
                <a:spcPts val="200"/>
              </a:spcBef>
              <a:defRPr sz="950">
                <a:solidFill>
                  <a:srgbClr val="CBD5E1"/>
                </a:solidFill>
              </a:defRPr>
            </a:pPr>
            <a:r>
              <a:t>1 Hz telemetry stream + CCTV perimeter motion clip recording throughout the active charging session.</a:t>
            </a:r>
          </a:p>
        </p:txBody>
      </p:sp>
      <p:sp>
        <p:nvSpPr>
          <p:cNvPr id="12" name="Rounded Rectangle 11"/>
          <p:cNvSpPr/>
          <p:nvPr/>
        </p:nvSpPr>
        <p:spPr>
          <a:xfrm>
            <a:off x="5303520" y="3657600"/>
            <a:ext cx="6156655" cy="96012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0" y="3749039"/>
            <a:ext cx="5790895" cy="777240"/>
          </a:xfrm>
          <a:prstGeom prst="rect">
            <a:avLst/>
          </a:prstGeom>
          <a:noFill/>
        </p:spPr>
        <p:txBody>
          <a:bodyPr wrap="square" lIns="0" tIns="0" rIns="0" bIns="0">
            <a:spAutoFit/>
          </a:bodyPr>
          <a:lstStyle/>
          <a:p>
            <a:pPr>
              <a:defRPr sz="1000" b="1">
                <a:solidFill>
                  <a:srgbClr val="22D3EE"/>
                </a:solidFill>
              </a:defRPr>
            </a:pPr>
            <a:r>
              <a:t>[ 03 : AFTER ] Post-Session Diff</a:t>
            </a:r>
          </a:p>
          <a:p>
            <a:pPr>
              <a:spcBef>
                <a:spcPts val="200"/>
              </a:spcBef>
              <a:defRPr sz="950">
                <a:solidFill>
                  <a:srgbClr val="CBD5E1"/>
                </a:solidFill>
              </a:defRPr>
            </a:pPr>
            <a:r>
              <a:t>Repeat matching photos + computer vision condition comparison to verify zero damage or cable strain.</a:t>
            </a:r>
          </a:p>
        </p:txBody>
      </p:sp>
      <p:sp>
        <p:nvSpPr>
          <p:cNvPr id="14" name="Rounded Rectangle 13"/>
          <p:cNvSpPr/>
          <p:nvPr/>
        </p:nvSpPr>
        <p:spPr>
          <a:xfrm>
            <a:off x="731520" y="4800600"/>
            <a:ext cx="10728655" cy="132588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937760"/>
            <a:ext cx="10362895" cy="1005840"/>
          </a:xfrm>
          <a:prstGeom prst="rect">
            <a:avLst/>
          </a:prstGeom>
          <a:noFill/>
        </p:spPr>
        <p:txBody>
          <a:bodyPr wrap="square" lIns="0" tIns="0" rIns="0" bIns="0">
            <a:spAutoFit/>
          </a:bodyPr>
          <a:lstStyle/>
          <a:p>
            <a:pPr>
              <a:defRPr sz="950" b="1">
                <a:solidFill>
                  <a:srgbClr val="22D3EE"/>
                </a:solidFill>
              </a:defRPr>
            </a:pPr>
            <a:r>
              <a:t>AUTOMATED AI DIFFERENCE VERIFICATION</a:t>
            </a:r>
          </a:p>
          <a:p>
            <a:pPr>
              <a:spcBef>
                <a:spcPts val="100"/>
              </a:spcBef>
              <a:spcAft>
                <a:spcPts val="200"/>
              </a:spcAft>
              <a:defRPr sz="1200" b="1">
                <a:solidFill>
                  <a:srgbClr val="FFFFFF"/>
                </a:solidFill>
              </a:defRPr>
            </a:pPr>
            <a:r>
              <a:t>16-Point Computer Vision Diff Analysis</a:t>
            </a:r>
          </a:p>
          <a:p>
            <a:pPr>
              <a:defRPr sz="1000">
                <a:solidFill>
                  <a:srgbClr val="CBD5E1"/>
                </a:solidFill>
              </a:defRPr>
            </a:pPr>
            <a:r>
              <a:t>Algorithms compare pre-charge and departure imagery to detect cosmetic scratches, cable strain, or mechanical port wear before liability escrow is released. Status: Verified Baseline Passed (Zero Anomaly Detected).</a:t>
            </a:r>
          </a:p>
        </p:txBody>
      </p:sp>
      <p:sp>
        <p:nvSpPr>
          <p:cNvPr id="16" name="TextBox 15"/>
          <p:cNvSpPr txBox="1"/>
          <p:nvPr/>
        </p:nvSpPr>
        <p:spPr>
          <a:xfrm>
            <a:off x="731520" y="6446520"/>
            <a:ext cx="10728655" cy="274320"/>
          </a:xfrm>
          <a:prstGeom prst="rect">
            <a:avLst/>
          </a:prstGeom>
          <a:noFill/>
        </p:spPr>
        <p:txBody>
          <a:bodyPr wrap="none" lIns="0" tIns="0" rIns="0" bIns="0">
            <a:spAutoFit/>
          </a:bodyPr>
          <a:lstStyle/>
          <a:p>
            <a:pPr>
              <a:defRPr sz="900">
                <a:solidFill>
                  <a:srgbClr val="475569"/>
                </a:solidFill>
              </a:defRPr>
            </a:pPr>
            <a:r>
              <a:t>EV CHARGING NETWORK : Slide 08 of 13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206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728655" cy="868680"/>
          </a:xfrm>
          <a:prstGeom prst="rect">
            <a:avLst/>
          </a:prstGeom>
          <a:noFill/>
        </p:spPr>
        <p:txBody>
          <a:bodyPr wrap="square" lIns="0" tIns="0" rIns="0" bIns="0">
            <a:spAutoFit/>
          </a:bodyPr>
          <a:lstStyle/>
          <a:p>
            <a:pPr>
              <a:spcAft>
                <a:spcPts val="200"/>
              </a:spcAft>
              <a:defRPr sz="1000" b="1">
                <a:solidFill>
                  <a:srgbClr val="22D3EE"/>
                </a:solidFill>
              </a:defRPr>
            </a:pPr>
            <a:r>
              <a:t>08 : MONITORING</a:t>
            </a:r>
          </a:p>
          <a:p>
            <a:pPr>
              <a:spcAft>
                <a:spcPts val="200"/>
              </a:spcAft>
              <a:defRPr sz="2200" b="1">
                <a:solidFill>
                  <a:srgbClr val="FFFFFF"/>
                </a:solidFill>
              </a:defRPr>
            </a:pPr>
            <a:r>
              <a:t>Protect the charger and the vehicle</a:t>
            </a:r>
          </a:p>
          <a:p>
            <a:pPr>
              <a:defRPr sz="1100">
                <a:solidFill>
                  <a:srgbClr val="94A3B8"/>
                </a:solidFill>
              </a:defRPr>
            </a:pPr>
            <a:r>
              <a:t>Real-time sensor telemetry and automated fault isolation controls</a:t>
            </a:r>
          </a:p>
        </p:txBody>
      </p:sp>
      <p:pic>
        <p:nvPicPr>
          <p:cNvPr id="4" name="Picture 3" descr="ev_telemetry_dashboard_4.80x2.60.jpg"/>
          <p:cNvPicPr>
            <a:picLocks noChangeAspect="1"/>
          </p:cNvPicPr>
          <p:nvPr/>
        </p:nvPicPr>
        <p:blipFill>
          <a:blip r:embed="rId2"/>
          <a:stretch>
            <a:fillRect/>
          </a:stretch>
        </p:blipFill>
        <p:spPr>
          <a:xfrm>
            <a:off x="731520" y="1463040"/>
            <a:ext cx="4389120" cy="2377440"/>
          </a:xfrm>
          <a:prstGeom prst="rect">
            <a:avLst/>
          </a:prstGeom>
        </p:spPr>
      </p:pic>
      <p:sp>
        <p:nvSpPr>
          <p:cNvPr id="5" name="Rectangle 4"/>
          <p:cNvSpPr/>
          <p:nvPr/>
        </p:nvSpPr>
        <p:spPr>
          <a:xfrm>
            <a:off x="731520" y="1463040"/>
            <a:ext cx="4389120" cy="2377440"/>
          </a:xfrm>
          <a:prstGeom prst="rect">
            <a:avLst/>
          </a:prstGeom>
          <a:no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68680" y="3017520"/>
            <a:ext cx="4114800" cy="68580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3090672"/>
            <a:ext cx="3840480" cy="539496"/>
          </a:xfrm>
          <a:prstGeom prst="rect">
            <a:avLst/>
          </a:prstGeom>
          <a:noFill/>
        </p:spPr>
        <p:txBody>
          <a:bodyPr wrap="square" lIns="0" tIns="0" rIns="0" bIns="0">
            <a:spAutoFit/>
          </a:bodyPr>
          <a:lstStyle/>
          <a:p>
            <a:pPr>
              <a:defRPr sz="850" b="1">
                <a:solidFill>
                  <a:srgbClr val="22D3EE"/>
                </a:solidFill>
              </a:defRPr>
            </a:pPr>
            <a:r>
              <a:t>LIVE TELEMETRY SUPERVISION</a:t>
            </a:r>
          </a:p>
          <a:p>
            <a:pPr>
              <a:spcBef>
                <a:spcPts val="200"/>
              </a:spcBef>
              <a:defRPr sz="950">
                <a:solidFill>
                  <a:srgbClr val="FFFFFF"/>
                </a:solidFill>
              </a:defRPr>
            </a:pPr>
            <a:r>
              <a:t>Continuous monitoring protects charger hardware and vehicle battery.</a:t>
            </a:r>
          </a:p>
        </p:txBody>
      </p:sp>
      <p:sp>
        <p:nvSpPr>
          <p:cNvPr id="8" name="Rounded Rectangle 7"/>
          <p:cNvSpPr/>
          <p:nvPr/>
        </p:nvSpPr>
        <p:spPr>
          <a:xfrm>
            <a:off x="5303520" y="1463040"/>
            <a:ext cx="2971800" cy="114300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40680" y="1572768"/>
            <a:ext cx="2697480" cy="914400"/>
          </a:xfrm>
          <a:prstGeom prst="rect">
            <a:avLst/>
          </a:prstGeom>
          <a:noFill/>
        </p:spPr>
        <p:txBody>
          <a:bodyPr wrap="square" lIns="0" tIns="0" rIns="0" bIns="0">
            <a:spAutoFit/>
          </a:bodyPr>
          <a:lstStyle/>
          <a:p>
            <a:pPr algn="ctr">
              <a:defRPr sz="850" b="1">
                <a:solidFill>
                  <a:srgbClr val="22D3EE"/>
                </a:solidFill>
              </a:defRPr>
            </a:pPr>
            <a:r>
              <a:t>TEMPERATURE</a:t>
            </a:r>
          </a:p>
          <a:p>
            <a:pPr algn="ctr">
              <a:spcBef>
                <a:spcPts val="100"/>
              </a:spcBef>
              <a:defRPr sz="1400" b="1">
                <a:solidFill>
                  <a:srgbClr val="67E8F9"/>
                </a:solidFill>
              </a:defRPr>
            </a:pPr>
            <a:r>
              <a:t>32.4 deg C</a:t>
            </a:r>
          </a:p>
          <a:p>
            <a:pPr algn="ctr">
              <a:defRPr sz="850">
                <a:solidFill>
                  <a:srgbClr val="94A3B8"/>
                </a:solidFill>
              </a:defRPr>
            </a:pPr>
            <a:r>
              <a:t>Thermocouple (Safe)</a:t>
            </a:r>
          </a:p>
        </p:txBody>
      </p:sp>
      <p:sp>
        <p:nvSpPr>
          <p:cNvPr id="10" name="Rounded Rectangle 9"/>
          <p:cNvSpPr/>
          <p:nvPr/>
        </p:nvSpPr>
        <p:spPr>
          <a:xfrm>
            <a:off x="8488375" y="1463040"/>
            <a:ext cx="2971800" cy="114300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25535" y="1572768"/>
            <a:ext cx="2697480" cy="914400"/>
          </a:xfrm>
          <a:prstGeom prst="rect">
            <a:avLst/>
          </a:prstGeom>
          <a:noFill/>
        </p:spPr>
        <p:txBody>
          <a:bodyPr wrap="square" lIns="0" tIns="0" rIns="0" bIns="0">
            <a:spAutoFit/>
          </a:bodyPr>
          <a:lstStyle/>
          <a:p>
            <a:pPr algn="ctr">
              <a:defRPr sz="850" b="1">
                <a:solidFill>
                  <a:srgbClr val="22D3EE"/>
                </a:solidFill>
              </a:defRPr>
            </a:pPr>
            <a:r>
              <a:t>VOLT / CURRENT</a:t>
            </a:r>
          </a:p>
          <a:p>
            <a:pPr algn="ctr">
              <a:spcBef>
                <a:spcPts val="100"/>
              </a:spcBef>
              <a:defRPr sz="1400" b="1">
                <a:solidFill>
                  <a:srgbClr val="FFFFFF"/>
                </a:solidFill>
              </a:defRPr>
            </a:pPr>
            <a:r>
              <a:t>230V / 32A</a:t>
            </a:r>
          </a:p>
          <a:p>
            <a:pPr algn="ctr">
              <a:defRPr sz="850">
                <a:solidFill>
                  <a:srgbClr val="94A3B8"/>
                </a:solidFill>
              </a:defRPr>
            </a:pPr>
            <a:r>
              <a:t>Phase Health: Nominal</a:t>
            </a:r>
          </a:p>
        </p:txBody>
      </p:sp>
      <p:sp>
        <p:nvSpPr>
          <p:cNvPr id="12" name="Rounded Rectangle 11"/>
          <p:cNvSpPr/>
          <p:nvPr/>
        </p:nvSpPr>
        <p:spPr>
          <a:xfrm>
            <a:off x="5303520" y="2697480"/>
            <a:ext cx="2971800" cy="114300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40680" y="2807208"/>
            <a:ext cx="2697480" cy="914400"/>
          </a:xfrm>
          <a:prstGeom prst="rect">
            <a:avLst/>
          </a:prstGeom>
          <a:noFill/>
        </p:spPr>
        <p:txBody>
          <a:bodyPr wrap="square" lIns="0" tIns="0" rIns="0" bIns="0">
            <a:spAutoFit/>
          </a:bodyPr>
          <a:lstStyle/>
          <a:p>
            <a:pPr algn="ctr">
              <a:defRPr sz="850" b="1">
                <a:solidFill>
                  <a:srgbClr val="22D3EE"/>
                </a:solidFill>
              </a:defRPr>
            </a:pPr>
            <a:r>
              <a:t>POWER DELIVERY</a:t>
            </a:r>
          </a:p>
          <a:p>
            <a:pPr algn="ctr">
              <a:spcBef>
                <a:spcPts val="100"/>
              </a:spcBef>
              <a:defRPr sz="1400" b="1">
                <a:solidFill>
                  <a:srgbClr val="67E8F9"/>
                </a:solidFill>
              </a:defRPr>
            </a:pPr>
            <a:r>
              <a:t>7.36 kW</a:t>
            </a:r>
          </a:p>
          <a:p>
            <a:pPr algn="ctr">
              <a:defRPr sz="850">
                <a:solidFill>
                  <a:srgbClr val="94A3B8"/>
                </a:solidFill>
              </a:defRPr>
            </a:pPr>
            <a:r>
              <a:t>Class 1 Meter Output</a:t>
            </a:r>
          </a:p>
        </p:txBody>
      </p:sp>
      <p:sp>
        <p:nvSpPr>
          <p:cNvPr id="14" name="Rounded Rectangle 13"/>
          <p:cNvSpPr/>
          <p:nvPr/>
        </p:nvSpPr>
        <p:spPr>
          <a:xfrm>
            <a:off x="8488375" y="2697480"/>
            <a:ext cx="2971800" cy="114300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25535" y="2807208"/>
            <a:ext cx="2697480" cy="914400"/>
          </a:xfrm>
          <a:prstGeom prst="rect">
            <a:avLst/>
          </a:prstGeom>
          <a:noFill/>
        </p:spPr>
        <p:txBody>
          <a:bodyPr wrap="square" lIns="0" tIns="0" rIns="0" bIns="0">
            <a:spAutoFit/>
          </a:bodyPr>
          <a:lstStyle/>
          <a:p>
            <a:pPr algn="ctr">
              <a:defRPr sz="850" b="1">
                <a:solidFill>
                  <a:srgbClr val="22D3EE"/>
                </a:solidFill>
              </a:defRPr>
            </a:pPr>
            <a:r>
              <a:t>FAULT CODE</a:t>
            </a:r>
          </a:p>
          <a:p>
            <a:pPr algn="ctr">
              <a:spcBef>
                <a:spcPts val="100"/>
              </a:spcBef>
              <a:defRPr sz="1400" b="1">
                <a:solidFill>
                  <a:srgbClr val="34D399"/>
                </a:solidFill>
              </a:defRPr>
            </a:pPr>
            <a:r>
              <a:t>0x00 NORMAL</a:t>
            </a:r>
          </a:p>
          <a:p>
            <a:pPr algn="ctr">
              <a:defRPr sz="850">
                <a:solidFill>
                  <a:srgbClr val="94A3B8"/>
                </a:solidFill>
              </a:defRPr>
            </a:pPr>
            <a:r>
              <a:t>GFCI State: Active Protected</a:t>
            </a:r>
          </a:p>
        </p:txBody>
      </p:sp>
      <p:sp>
        <p:nvSpPr>
          <p:cNvPr id="16" name="Rounded Rectangle 15"/>
          <p:cNvSpPr/>
          <p:nvPr/>
        </p:nvSpPr>
        <p:spPr>
          <a:xfrm>
            <a:off x="731520" y="4069080"/>
            <a:ext cx="2560320" cy="205740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206240"/>
            <a:ext cx="2286000" cy="1737360"/>
          </a:xfrm>
          <a:prstGeom prst="rect">
            <a:avLst/>
          </a:prstGeom>
          <a:noFill/>
        </p:spPr>
        <p:txBody>
          <a:bodyPr wrap="square" lIns="0" tIns="0" rIns="0" bIns="0">
            <a:spAutoFit/>
          </a:bodyPr>
          <a:lstStyle/>
          <a:p>
            <a:pPr>
              <a:spcAft>
                <a:spcPts val="400"/>
              </a:spcAft>
              <a:defRPr sz="1150" b="1">
                <a:solidFill>
                  <a:srgbClr val="FFFFFF"/>
                </a:solidFill>
              </a:defRPr>
            </a:pPr>
            <a:r>
              <a:t>1. Detect anomaly</a:t>
            </a:r>
          </a:p>
          <a:p>
            <a:pPr>
              <a:defRPr sz="1000">
                <a:solidFill>
                  <a:srgbClr val="CBD5E1"/>
                </a:solidFill>
              </a:defRPr>
            </a:pPr>
            <a:r>
              <a:t>&lt;10ms polling on voltage, current &amp; ground.</a:t>
            </a:r>
          </a:p>
        </p:txBody>
      </p:sp>
      <p:sp>
        <p:nvSpPr>
          <p:cNvPr id="18" name="Rounded Rectangle 17"/>
          <p:cNvSpPr/>
          <p:nvPr/>
        </p:nvSpPr>
        <p:spPr>
          <a:xfrm>
            <a:off x="3453688" y="4069080"/>
            <a:ext cx="2560320" cy="205740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90848" y="4206240"/>
            <a:ext cx="2286000" cy="1737360"/>
          </a:xfrm>
          <a:prstGeom prst="rect">
            <a:avLst/>
          </a:prstGeom>
          <a:noFill/>
        </p:spPr>
        <p:txBody>
          <a:bodyPr wrap="square" lIns="0" tIns="0" rIns="0" bIns="0">
            <a:spAutoFit/>
          </a:bodyPr>
          <a:lstStyle/>
          <a:p>
            <a:pPr>
              <a:spcAft>
                <a:spcPts val="400"/>
              </a:spcAft>
              <a:defRPr sz="1150" b="1">
                <a:solidFill>
                  <a:srgbClr val="22D3EE"/>
                </a:solidFill>
              </a:defRPr>
            </a:pPr>
            <a:r>
              <a:t>2. Safe EVSE response</a:t>
            </a:r>
          </a:p>
          <a:p>
            <a:pPr>
              <a:defRPr sz="1000">
                <a:solidFill>
                  <a:srgbClr val="CBD5E1"/>
                </a:solidFill>
              </a:defRPr>
            </a:pPr>
            <a:r>
              <a:t>&lt;100ms pilot trip disengages main contactor safely.</a:t>
            </a:r>
          </a:p>
        </p:txBody>
      </p:sp>
      <p:sp>
        <p:nvSpPr>
          <p:cNvPr id="20" name="Rounded Rectangle 19"/>
          <p:cNvSpPr/>
          <p:nvPr/>
        </p:nvSpPr>
        <p:spPr>
          <a:xfrm>
            <a:off x="6175857" y="4069080"/>
            <a:ext cx="2560320" cy="205740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13017" y="4206240"/>
            <a:ext cx="2286000" cy="1737360"/>
          </a:xfrm>
          <a:prstGeom prst="rect">
            <a:avLst/>
          </a:prstGeom>
          <a:noFill/>
        </p:spPr>
        <p:txBody>
          <a:bodyPr wrap="square" lIns="0" tIns="0" rIns="0" bIns="0">
            <a:spAutoFit/>
          </a:bodyPr>
          <a:lstStyle/>
          <a:p>
            <a:pPr>
              <a:spcAft>
                <a:spcPts val="400"/>
              </a:spcAft>
              <a:defRPr sz="1150" b="1">
                <a:solidFill>
                  <a:srgbClr val="FFFFFF"/>
                </a:solidFill>
              </a:defRPr>
            </a:pPr>
            <a:r>
              <a:t>3. Notify</a:t>
            </a:r>
          </a:p>
          <a:p>
            <a:pPr>
              <a:defRPr sz="1000">
                <a:solidFill>
                  <a:srgbClr val="CBD5E1"/>
                </a:solidFill>
              </a:defRPr>
            </a:pPr>
            <a:r>
              <a:t>Instant alerts delivered to driver and host devices.</a:t>
            </a:r>
          </a:p>
        </p:txBody>
      </p:sp>
      <p:sp>
        <p:nvSpPr>
          <p:cNvPr id="22" name="Rounded Rectangle 21"/>
          <p:cNvSpPr/>
          <p:nvPr/>
        </p:nvSpPr>
        <p:spPr>
          <a:xfrm>
            <a:off x="8898026" y="4069080"/>
            <a:ext cx="2560320" cy="205740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035186" y="4206240"/>
            <a:ext cx="2286000" cy="1737360"/>
          </a:xfrm>
          <a:prstGeom prst="rect">
            <a:avLst/>
          </a:prstGeom>
          <a:noFill/>
        </p:spPr>
        <p:txBody>
          <a:bodyPr wrap="square" lIns="0" tIns="0" rIns="0" bIns="0">
            <a:spAutoFit/>
          </a:bodyPr>
          <a:lstStyle/>
          <a:p>
            <a:pPr>
              <a:spcAft>
                <a:spcPts val="400"/>
              </a:spcAft>
              <a:defRPr sz="1150" b="1">
                <a:solidFill>
                  <a:srgbClr val="FFFFFF"/>
                </a:solidFill>
              </a:defRPr>
            </a:pPr>
            <a:r>
              <a:t>4. Inspect if needed</a:t>
            </a:r>
          </a:p>
          <a:p>
            <a:pPr>
              <a:defRPr sz="1000">
                <a:solidFill>
                  <a:srgbClr val="CBD5E1"/>
                </a:solidFill>
              </a:defRPr>
            </a:pPr>
            <a:r>
              <a:t>Remote diagnostics logs flagged for technical review.</a:t>
            </a:r>
          </a:p>
        </p:txBody>
      </p:sp>
      <p:sp>
        <p:nvSpPr>
          <p:cNvPr id="24" name="TextBox 23"/>
          <p:cNvSpPr txBox="1"/>
          <p:nvPr/>
        </p:nvSpPr>
        <p:spPr>
          <a:xfrm>
            <a:off x="731520" y="6446520"/>
            <a:ext cx="10728655" cy="274320"/>
          </a:xfrm>
          <a:prstGeom prst="rect">
            <a:avLst/>
          </a:prstGeom>
          <a:noFill/>
        </p:spPr>
        <p:txBody>
          <a:bodyPr wrap="none" lIns="0" tIns="0" rIns="0" bIns="0">
            <a:spAutoFit/>
          </a:bodyPr>
          <a:lstStyle/>
          <a:p>
            <a:pPr>
              <a:defRPr sz="900">
                <a:solidFill>
                  <a:srgbClr val="475569"/>
                </a:solidFill>
              </a:defRPr>
            </a:pPr>
            <a:r>
              <a:t>EV CHARGING NETWORK : Slide 09 of 13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206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728655" cy="868680"/>
          </a:xfrm>
          <a:prstGeom prst="rect">
            <a:avLst/>
          </a:prstGeom>
          <a:noFill/>
        </p:spPr>
        <p:txBody>
          <a:bodyPr wrap="square" lIns="0" tIns="0" rIns="0" bIns="0">
            <a:spAutoFit/>
          </a:bodyPr>
          <a:lstStyle/>
          <a:p>
            <a:pPr>
              <a:spcAft>
                <a:spcPts val="200"/>
              </a:spcAft>
              <a:defRPr sz="1000" b="1">
                <a:solidFill>
                  <a:srgbClr val="22D3EE"/>
                </a:solidFill>
              </a:defRPr>
            </a:pPr>
            <a:r>
              <a:t>09 : PLATFORM</a:t>
            </a:r>
          </a:p>
          <a:p>
            <a:pPr>
              <a:spcAft>
                <a:spcPts val="200"/>
              </a:spcAft>
              <a:defRPr sz="2200" b="1">
                <a:solidFill>
                  <a:srgbClr val="FFFFFF"/>
                </a:solidFill>
              </a:defRPr>
            </a:pPr>
            <a:r>
              <a:t>The ecosystem</a:t>
            </a:r>
          </a:p>
          <a:p>
            <a:pPr>
              <a:defRPr sz="1100">
                <a:solidFill>
                  <a:srgbClr val="94A3B8"/>
                </a:solidFill>
              </a:defRPr>
            </a:pPr>
            <a:r>
              <a:t>Unifying demand, intelligence, and distributed electrical supply</a:t>
            </a:r>
          </a:p>
        </p:txBody>
      </p:sp>
      <p:sp>
        <p:nvSpPr>
          <p:cNvPr id="4" name="Rounded Rectangle 3"/>
          <p:cNvSpPr/>
          <p:nvPr/>
        </p:nvSpPr>
        <p:spPr>
          <a:xfrm>
            <a:off x="731520" y="1463040"/>
            <a:ext cx="3429000" cy="480060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3063240" cy="4389120"/>
          </a:xfrm>
          <a:prstGeom prst="rect">
            <a:avLst/>
          </a:prstGeom>
          <a:noFill/>
        </p:spPr>
        <p:txBody>
          <a:bodyPr wrap="square" lIns="0" tIns="0" rIns="0" bIns="0">
            <a:spAutoFit/>
          </a:bodyPr>
          <a:lstStyle/>
          <a:p>
            <a:pPr>
              <a:defRPr sz="950" b="1">
                <a:solidFill>
                  <a:srgbClr val="22D3EE"/>
                </a:solidFill>
              </a:defRPr>
            </a:pPr>
            <a:r>
              <a:t>[ DEMAND LAYER ]</a:t>
            </a:r>
          </a:p>
          <a:p>
            <a:pPr>
              <a:spcBef>
                <a:spcPts val="200"/>
              </a:spcBef>
              <a:defRPr sz="1600" b="1">
                <a:solidFill>
                  <a:srgbClr val="FFFFFF"/>
                </a:solidFill>
              </a:defRPr>
            </a:pPr>
            <a:r>
              <a:t>EV OWNER</a:t>
            </a:r>
          </a:p>
          <a:p>
            <a:pPr>
              <a:spcAft>
                <a:spcPts val="800"/>
              </a:spcAft>
              <a:defRPr sz="1100" b="1">
                <a:solidFill>
                  <a:srgbClr val="CBD5E1"/>
                </a:solidFill>
              </a:defRPr>
            </a:pPr>
            <a:r>
              <a:t>Convenient charging</a:t>
            </a:r>
          </a:p>
          <a:p>
            <a:pPr>
              <a:spcAft>
                <a:spcPts val="400"/>
              </a:spcAft>
              <a:defRPr sz="1000">
                <a:solidFill>
                  <a:srgbClr val="CBD5E1"/>
                </a:solidFill>
              </a:defRPr>
            </a:pPr>
            <a:r>
              <a:t>- Urban apartment valet scheduling</a:t>
            </a:r>
          </a:p>
          <a:p>
            <a:pPr>
              <a:spcAft>
                <a:spcPts val="400"/>
              </a:spcAft>
              <a:defRPr sz="1000">
                <a:solidFill>
                  <a:srgbClr val="CBD5E1"/>
                </a:solidFill>
              </a:defRPr>
            </a:pPr>
            <a:r>
              <a:t>- Highway corridor route reservations</a:t>
            </a:r>
          </a:p>
          <a:p>
            <a:pPr>
              <a:spcAft>
                <a:spcPts val="400"/>
              </a:spcAft>
              <a:defRPr sz="1000">
                <a:solidFill>
                  <a:srgbClr val="CBD5E1"/>
                </a:solidFill>
              </a:defRPr>
            </a:pPr>
            <a:r>
              <a:t>- Transparent fixed per-kWh tariffs</a:t>
            </a:r>
          </a:p>
          <a:p>
            <a:pPr>
              <a:spcAft>
                <a:spcPts val="400"/>
              </a:spcAft>
              <a:defRPr sz="1000">
                <a:solidFill>
                  <a:srgbClr val="CBD5E1"/>
                </a:solidFill>
              </a:defRPr>
            </a:pPr>
            <a:r>
              <a:t>- Real-time battery status tracking</a:t>
            </a:r>
          </a:p>
          <a:p>
            <a:pPr>
              <a:spcBef>
                <a:spcPts val="1400"/>
              </a:spcBef>
              <a:defRPr sz="1000">
                <a:solidFill>
                  <a:srgbClr val="94A3B8"/>
                </a:solidFill>
              </a:defRPr>
            </a:pPr>
            <a:r>
              <a:t>Zero charging chore for urban owners.</a:t>
            </a:r>
          </a:p>
        </p:txBody>
      </p:sp>
      <p:sp>
        <p:nvSpPr>
          <p:cNvPr id="6" name="Rounded Rectangle 5"/>
          <p:cNvSpPr/>
          <p:nvPr/>
        </p:nvSpPr>
        <p:spPr>
          <a:xfrm>
            <a:off x="4379976" y="1463040"/>
            <a:ext cx="3429000" cy="4800600"/>
          </a:xfrm>
          <a:prstGeom prst="roundRect">
            <a:avLst/>
          </a:prstGeom>
          <a:solidFill>
            <a:srgbClr val="0F172A"/>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62856" y="1645920"/>
            <a:ext cx="3063240" cy="4389120"/>
          </a:xfrm>
          <a:prstGeom prst="rect">
            <a:avLst/>
          </a:prstGeom>
          <a:noFill/>
        </p:spPr>
        <p:txBody>
          <a:bodyPr wrap="square" lIns="0" tIns="0" rIns="0" bIns="0">
            <a:spAutoFit/>
          </a:bodyPr>
          <a:lstStyle/>
          <a:p>
            <a:pPr>
              <a:defRPr sz="950" b="1">
                <a:solidFill>
                  <a:srgbClr val="22D3EE"/>
                </a:solidFill>
              </a:defRPr>
            </a:pPr>
            <a:r>
              <a:t>[ CORE ENGINE ]</a:t>
            </a:r>
          </a:p>
          <a:p>
            <a:pPr>
              <a:spcBef>
                <a:spcPts val="200"/>
              </a:spcBef>
              <a:defRPr sz="1600" b="1">
                <a:solidFill>
                  <a:srgbClr val="FFFFFF"/>
                </a:solidFill>
              </a:defRPr>
            </a:pPr>
            <a:r>
              <a:t>PLATFORM</a:t>
            </a:r>
          </a:p>
          <a:p>
            <a:pPr>
              <a:spcAft>
                <a:spcPts val="800"/>
              </a:spcAft>
              <a:defRPr sz="1100" b="1">
                <a:solidFill>
                  <a:srgbClr val="67E8F9"/>
                </a:solidFill>
              </a:defRPr>
            </a:pPr>
            <a:r>
              <a:t>Booking - Security - Payment</a:t>
            </a:r>
          </a:p>
          <a:p>
            <a:pPr>
              <a:spcAft>
                <a:spcPts val="400"/>
              </a:spcAft>
              <a:defRPr sz="1000">
                <a:solidFill>
                  <a:srgbClr val="CBD5E1"/>
                </a:solidFill>
              </a:defRPr>
            </a:pPr>
            <a:r>
              <a:t>- Dynamic slot booking optimization</a:t>
            </a:r>
          </a:p>
          <a:p>
            <a:pPr>
              <a:spcAft>
                <a:spcPts val="400"/>
              </a:spcAft>
              <a:defRPr sz="1000">
                <a:solidFill>
                  <a:srgbClr val="CBD5E1"/>
                </a:solidFill>
              </a:defRPr>
            </a:pPr>
            <a:r>
              <a:t>- Cryptographic JWT token auth broker</a:t>
            </a:r>
          </a:p>
          <a:p>
            <a:pPr>
              <a:spcAft>
                <a:spcPts val="400"/>
              </a:spcAft>
              <a:defRPr sz="1000">
                <a:solidFill>
                  <a:srgbClr val="CBD5E1"/>
                </a:solidFill>
              </a:defRPr>
            </a:pPr>
            <a:r>
              <a:t>- Automated payment clearing &amp; escrow</a:t>
            </a:r>
          </a:p>
          <a:p>
            <a:pPr>
              <a:spcAft>
                <a:spcPts val="400"/>
              </a:spcAft>
              <a:defRPr sz="1000">
                <a:solidFill>
                  <a:srgbClr val="CBD5E1"/>
                </a:solidFill>
              </a:defRPr>
            </a:pPr>
            <a:r>
              <a:t>- Computer vision condition comparator</a:t>
            </a:r>
          </a:p>
          <a:p>
            <a:pPr>
              <a:spcBef>
                <a:spcPts val="1400"/>
              </a:spcBef>
              <a:defRPr sz="1000">
                <a:solidFill>
                  <a:srgbClr val="22D3EE"/>
                </a:solidFill>
              </a:defRPr>
            </a:pPr>
            <a:r>
              <a:t>Coordinates identity, hardware, and billing.</a:t>
            </a:r>
          </a:p>
        </p:txBody>
      </p:sp>
      <p:sp>
        <p:nvSpPr>
          <p:cNvPr id="8" name="Rounded Rectangle 7"/>
          <p:cNvSpPr/>
          <p:nvPr/>
        </p:nvSpPr>
        <p:spPr>
          <a:xfrm>
            <a:off x="8028432" y="1463040"/>
            <a:ext cx="3429000" cy="480060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11312" y="1645920"/>
            <a:ext cx="3063240" cy="4389120"/>
          </a:xfrm>
          <a:prstGeom prst="rect">
            <a:avLst/>
          </a:prstGeom>
          <a:noFill/>
        </p:spPr>
        <p:txBody>
          <a:bodyPr wrap="square" lIns="0" tIns="0" rIns="0" bIns="0">
            <a:spAutoFit/>
          </a:bodyPr>
          <a:lstStyle/>
          <a:p>
            <a:pPr>
              <a:defRPr sz="950" b="1">
                <a:solidFill>
                  <a:srgbClr val="22D3EE"/>
                </a:solidFill>
              </a:defRPr>
            </a:pPr>
            <a:r>
              <a:t>[ SUPPLY LAYER ]</a:t>
            </a:r>
          </a:p>
          <a:p>
            <a:pPr>
              <a:spcBef>
                <a:spcPts val="200"/>
              </a:spcBef>
              <a:defRPr sz="1600" b="1">
                <a:solidFill>
                  <a:srgbClr val="FFFFFF"/>
                </a:solidFill>
              </a:defRPr>
            </a:pPr>
            <a:r>
              <a:t>CHARGER PROVIDERS</a:t>
            </a:r>
          </a:p>
          <a:p>
            <a:pPr>
              <a:spcAft>
                <a:spcPts val="800"/>
              </a:spcAft>
              <a:defRPr sz="1100" b="1">
                <a:solidFill>
                  <a:srgbClr val="CBD5E1"/>
                </a:solidFill>
              </a:defRPr>
            </a:pPr>
            <a:r>
              <a:t>Hubs - Homes - Hotels</a:t>
            </a:r>
          </a:p>
          <a:p>
            <a:pPr>
              <a:spcAft>
                <a:spcPts val="400"/>
              </a:spcAft>
              <a:defRPr sz="1000">
                <a:solidFill>
                  <a:srgbClr val="CBD5E1"/>
                </a:solidFill>
              </a:defRPr>
            </a:pPr>
            <a:r>
              <a:t>- Hubs: Owned automated vertical towers</a:t>
            </a:r>
          </a:p>
          <a:p>
            <a:pPr>
              <a:spcAft>
                <a:spcPts val="400"/>
              </a:spcAft>
              <a:defRPr sz="1000">
                <a:solidFill>
                  <a:srgbClr val="CBD5E1"/>
                </a:solidFill>
              </a:defRPr>
            </a:pPr>
            <a:r>
              <a:t>- Homes: Residential private driveways</a:t>
            </a:r>
          </a:p>
          <a:p>
            <a:pPr>
              <a:spcAft>
                <a:spcPts val="400"/>
              </a:spcAft>
              <a:defRPr sz="1000">
                <a:solidFill>
                  <a:srgbClr val="CBD5E1"/>
                </a:solidFill>
              </a:defRPr>
            </a:pPr>
            <a:r>
              <a:t>- Businesses: Commercial hospitality</a:t>
            </a:r>
          </a:p>
          <a:p>
            <a:pPr>
              <a:spcAft>
                <a:spcPts val="400"/>
              </a:spcAft>
              <a:defRPr sz="1000">
                <a:solidFill>
                  <a:srgbClr val="CBD5E1"/>
                </a:solidFill>
              </a:defRPr>
            </a:pPr>
            <a:r>
              <a:t>- Hardware telemetry &amp; lock relays</a:t>
            </a:r>
          </a:p>
          <a:p>
            <a:pPr>
              <a:spcBef>
                <a:spcPts val="1400"/>
              </a:spcBef>
              <a:defRPr sz="1000">
                <a:solidFill>
                  <a:srgbClr val="94A3B8"/>
                </a:solidFill>
              </a:defRPr>
            </a:pPr>
            <a:r>
              <a:t>Turns idle electrical assets into revenue.</a:t>
            </a:r>
          </a:p>
        </p:txBody>
      </p:sp>
      <p:sp>
        <p:nvSpPr>
          <p:cNvPr id="10" name="TextBox 9"/>
          <p:cNvSpPr txBox="1"/>
          <p:nvPr/>
        </p:nvSpPr>
        <p:spPr>
          <a:xfrm>
            <a:off x="731520" y="6446520"/>
            <a:ext cx="10728655" cy="274320"/>
          </a:xfrm>
          <a:prstGeom prst="rect">
            <a:avLst/>
          </a:prstGeom>
          <a:noFill/>
        </p:spPr>
        <p:txBody>
          <a:bodyPr wrap="none" lIns="0" tIns="0" rIns="0" bIns="0">
            <a:spAutoFit/>
          </a:bodyPr>
          <a:lstStyle/>
          <a:p>
            <a:pPr>
              <a:defRPr sz="900">
                <a:solidFill>
                  <a:srgbClr val="475569"/>
                </a:solidFill>
              </a:defRPr>
            </a:pPr>
            <a:r>
              <a:t>EV CHARGING NETWORK : Slide 10 of 13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206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728655" cy="868680"/>
          </a:xfrm>
          <a:prstGeom prst="rect">
            <a:avLst/>
          </a:prstGeom>
          <a:noFill/>
        </p:spPr>
        <p:txBody>
          <a:bodyPr wrap="square" lIns="0" tIns="0" rIns="0" bIns="0">
            <a:spAutoFit/>
          </a:bodyPr>
          <a:lstStyle/>
          <a:p>
            <a:pPr>
              <a:spcAft>
                <a:spcPts val="200"/>
              </a:spcAft>
              <a:defRPr sz="1000" b="1">
                <a:solidFill>
                  <a:srgbClr val="22D3EE"/>
                </a:solidFill>
              </a:defRPr>
            </a:pPr>
            <a:r>
              <a:t>10 : BUSINESS</a:t>
            </a:r>
          </a:p>
          <a:p>
            <a:pPr>
              <a:spcAft>
                <a:spcPts val="200"/>
              </a:spcAft>
              <a:defRPr sz="2200" b="1">
                <a:solidFill>
                  <a:srgbClr val="FFFFFF"/>
                </a:solidFill>
              </a:defRPr>
            </a:pPr>
            <a:r>
              <a:t>Scale without building every charger</a:t>
            </a:r>
          </a:p>
          <a:p>
            <a:pPr>
              <a:defRPr sz="1100">
                <a:solidFill>
                  <a:srgbClr val="94A3B8"/>
                </a:solidFill>
              </a:defRPr>
            </a:pPr>
            <a:r>
              <a:t>Asset-right hybrid capital strategy balancing high-margin anchors with network scaling</a:t>
            </a:r>
          </a:p>
        </p:txBody>
      </p:sp>
      <p:sp>
        <p:nvSpPr>
          <p:cNvPr id="4" name="Rounded Rectangle 3"/>
          <p:cNvSpPr/>
          <p:nvPr/>
        </p:nvSpPr>
        <p:spPr>
          <a:xfrm>
            <a:off x="731520" y="1463040"/>
            <a:ext cx="3429000" cy="246888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00200"/>
            <a:ext cx="3063240" cy="2103120"/>
          </a:xfrm>
          <a:prstGeom prst="rect">
            <a:avLst/>
          </a:prstGeom>
          <a:noFill/>
        </p:spPr>
        <p:txBody>
          <a:bodyPr wrap="square" lIns="0" tIns="0" rIns="0" bIns="0">
            <a:spAutoFit/>
          </a:bodyPr>
          <a:lstStyle/>
          <a:p>
            <a:pPr>
              <a:defRPr sz="950" b="1">
                <a:solidFill>
                  <a:srgbClr val="22D3EE"/>
                </a:solidFill>
              </a:defRPr>
            </a:pPr>
            <a:r>
              <a:t>OWNED HUBS</a:t>
            </a:r>
          </a:p>
          <a:p>
            <a:pPr>
              <a:spcBef>
                <a:spcPts val="200"/>
              </a:spcBef>
              <a:spcAft>
                <a:spcPts val="400"/>
              </a:spcAft>
              <a:defRPr sz="1300" b="1">
                <a:solidFill>
                  <a:srgbClr val="FFFFFF"/>
                </a:solidFill>
              </a:defRPr>
            </a:pPr>
            <a:r>
              <a:t>Controlled Urban Operations</a:t>
            </a:r>
          </a:p>
          <a:p>
            <a:pPr>
              <a:spcAft>
                <a:spcPts val="200"/>
              </a:spcAft>
              <a:defRPr sz="1000">
                <a:solidFill>
                  <a:srgbClr val="CBD5E1"/>
                </a:solidFill>
              </a:defRPr>
            </a:pPr>
            <a:r>
              <a:t>- Vertical parking land efficiency</a:t>
            </a:r>
          </a:p>
          <a:p>
            <a:pPr>
              <a:spcAft>
                <a:spcPts val="200"/>
              </a:spcAft>
              <a:defRPr sz="1000">
                <a:solidFill>
                  <a:srgbClr val="CBD5E1"/>
                </a:solidFill>
              </a:defRPr>
            </a:pPr>
            <a:r>
              <a:t>- Premium white-glove valet service</a:t>
            </a:r>
          </a:p>
          <a:p>
            <a:pPr>
              <a:spcAft>
                <a:spcPts val="200"/>
              </a:spcAft>
              <a:defRPr sz="1000">
                <a:solidFill>
                  <a:srgbClr val="CBD5E1"/>
                </a:solidFill>
              </a:defRPr>
            </a:pPr>
            <a:r>
              <a:t>- High volume and predictability</a:t>
            </a:r>
          </a:p>
          <a:p>
            <a:pPr>
              <a:spcAft>
                <a:spcPts val="200"/>
              </a:spcAft>
              <a:defRPr sz="1000">
                <a:solidFill>
                  <a:srgbClr val="CBD5E1"/>
                </a:solidFill>
              </a:defRPr>
            </a:pPr>
            <a:r>
              <a:t>- Solar and battery margin capture</a:t>
            </a:r>
          </a:p>
        </p:txBody>
      </p:sp>
      <p:sp>
        <p:nvSpPr>
          <p:cNvPr id="6" name="Rounded Rectangle 5"/>
          <p:cNvSpPr/>
          <p:nvPr/>
        </p:nvSpPr>
        <p:spPr>
          <a:xfrm>
            <a:off x="4379976" y="1463040"/>
            <a:ext cx="3429000" cy="246888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62856" y="1600200"/>
            <a:ext cx="3063240" cy="2103120"/>
          </a:xfrm>
          <a:prstGeom prst="rect">
            <a:avLst/>
          </a:prstGeom>
          <a:noFill/>
        </p:spPr>
        <p:txBody>
          <a:bodyPr wrap="square" lIns="0" tIns="0" rIns="0" bIns="0">
            <a:spAutoFit/>
          </a:bodyPr>
          <a:lstStyle/>
          <a:p>
            <a:pPr>
              <a:defRPr sz="950" b="1">
                <a:solidFill>
                  <a:srgbClr val="CBD5E1"/>
                </a:solidFill>
              </a:defRPr>
            </a:pPr>
            <a:r>
              <a:t>+ DISTRIBUTED ASSETS</a:t>
            </a:r>
          </a:p>
          <a:p>
            <a:pPr>
              <a:spcBef>
                <a:spcPts val="200"/>
              </a:spcBef>
              <a:spcAft>
                <a:spcPts val="400"/>
              </a:spcAft>
              <a:defRPr sz="1300" b="1">
                <a:solidFill>
                  <a:srgbClr val="FFFFFF"/>
                </a:solidFill>
              </a:defRPr>
            </a:pPr>
            <a:r>
              <a:t>Verified Unused Chargers</a:t>
            </a:r>
          </a:p>
          <a:p>
            <a:pPr>
              <a:spcAft>
                <a:spcPts val="200"/>
              </a:spcAft>
              <a:defRPr sz="1000">
                <a:solidFill>
                  <a:srgbClr val="CBD5E1"/>
                </a:solidFill>
              </a:defRPr>
            </a:pPr>
            <a:r>
              <a:t>- Zero civil construction CapEx</a:t>
            </a:r>
          </a:p>
          <a:p>
            <a:pPr>
              <a:spcAft>
                <a:spcPts val="200"/>
              </a:spcAft>
              <a:defRPr sz="1000">
                <a:solidFill>
                  <a:srgbClr val="CBD5E1"/>
                </a:solidFill>
              </a:defRPr>
            </a:pPr>
            <a:r>
              <a:t>- Rapid geographic corridor coverage</a:t>
            </a:r>
          </a:p>
          <a:p>
            <a:pPr>
              <a:spcAft>
                <a:spcPts val="200"/>
              </a:spcAft>
              <a:defRPr sz="1000">
                <a:solidFill>
                  <a:srgbClr val="CBD5E1"/>
                </a:solidFill>
              </a:defRPr>
            </a:pPr>
            <a:r>
              <a:t>- Automated self-service operations</a:t>
            </a:r>
          </a:p>
          <a:p>
            <a:pPr>
              <a:spcAft>
                <a:spcPts val="200"/>
              </a:spcAft>
              <a:defRPr sz="1000">
                <a:solidFill>
                  <a:srgbClr val="CBD5E1"/>
                </a:solidFill>
              </a:defRPr>
            </a:pPr>
            <a:r>
              <a:t>- Host revenue-share alignment</a:t>
            </a:r>
          </a:p>
        </p:txBody>
      </p:sp>
      <p:sp>
        <p:nvSpPr>
          <p:cNvPr id="8" name="Rounded Rectangle 7"/>
          <p:cNvSpPr/>
          <p:nvPr/>
        </p:nvSpPr>
        <p:spPr>
          <a:xfrm>
            <a:off x="8028432" y="1463040"/>
            <a:ext cx="3429000" cy="2468880"/>
          </a:xfrm>
          <a:prstGeom prst="roundRect">
            <a:avLst/>
          </a:prstGeom>
          <a:solidFill>
            <a:srgbClr val="0F172A"/>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11312" y="1600200"/>
            <a:ext cx="3063240" cy="2103120"/>
          </a:xfrm>
          <a:prstGeom prst="rect">
            <a:avLst/>
          </a:prstGeom>
          <a:noFill/>
        </p:spPr>
        <p:txBody>
          <a:bodyPr wrap="square" lIns="0" tIns="0" rIns="0" bIns="0">
            <a:spAutoFit/>
          </a:bodyPr>
          <a:lstStyle/>
          <a:p>
            <a:pPr>
              <a:defRPr sz="950" b="1">
                <a:solidFill>
                  <a:srgbClr val="67E8F9"/>
                </a:solidFill>
              </a:defRPr>
            </a:pPr>
            <a:r>
              <a:t>= CHARGING NETWORK</a:t>
            </a:r>
          </a:p>
          <a:p>
            <a:pPr>
              <a:spcBef>
                <a:spcPts val="200"/>
              </a:spcBef>
              <a:spcAft>
                <a:spcPts val="400"/>
              </a:spcAft>
              <a:defRPr sz="1300" b="1">
                <a:solidFill>
                  <a:srgbClr val="FFFFFF"/>
                </a:solidFill>
              </a:defRPr>
            </a:pPr>
            <a:r>
              <a:t>Maximum Capital Efficiency</a:t>
            </a:r>
          </a:p>
          <a:p>
            <a:pPr>
              <a:spcAft>
                <a:spcPts val="200"/>
              </a:spcAft>
              <a:defRPr sz="1000">
                <a:solidFill>
                  <a:srgbClr val="CBD5E1"/>
                </a:solidFill>
              </a:defRPr>
            </a:pPr>
            <a:r>
              <a:t>More access with less infrastructure duplication. Expands across highway miles without building billions in single-use charger concrete.</a:t>
            </a:r>
          </a:p>
        </p:txBody>
      </p:sp>
      <p:sp>
        <p:nvSpPr>
          <p:cNvPr id="10" name="Rounded Rectangle 9"/>
          <p:cNvSpPr/>
          <p:nvPr/>
        </p:nvSpPr>
        <p:spPr>
          <a:xfrm>
            <a:off x="731520" y="4114800"/>
            <a:ext cx="10728655" cy="214884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251960"/>
            <a:ext cx="10362895" cy="320040"/>
          </a:xfrm>
          <a:prstGeom prst="rect">
            <a:avLst/>
          </a:prstGeom>
          <a:noFill/>
        </p:spPr>
        <p:txBody>
          <a:bodyPr wrap="none" lIns="0" tIns="0" rIns="0" bIns="0">
            <a:spAutoFit/>
          </a:bodyPr>
          <a:lstStyle/>
          <a:p>
            <a:pPr>
              <a:defRPr sz="1000" b="1">
                <a:solidFill>
                  <a:srgbClr val="22D3EE"/>
                </a:solidFill>
              </a:defRPr>
            </a:pPr>
            <a:r>
              <a:t>7 DIVERSIFIED REVENUE STREAMS</a:t>
            </a:r>
          </a:p>
        </p:txBody>
      </p:sp>
      <p:sp>
        <p:nvSpPr>
          <p:cNvPr id="12" name="Rounded Rectangle 11"/>
          <p:cNvSpPr/>
          <p:nvPr/>
        </p:nvSpPr>
        <p:spPr>
          <a:xfrm>
            <a:off x="868680" y="4709160"/>
            <a:ext cx="1417320" cy="1325880"/>
          </a:xfrm>
          <a:prstGeom prst="roundRect">
            <a:avLst/>
          </a:prstGeom>
          <a:solidFill>
            <a:srgbClr val="02061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4892040"/>
            <a:ext cx="1234440" cy="960120"/>
          </a:xfrm>
          <a:prstGeom prst="rect">
            <a:avLst/>
          </a:prstGeom>
          <a:noFill/>
        </p:spPr>
        <p:txBody>
          <a:bodyPr wrap="square" lIns="0" tIns="0" rIns="0" bIns="0">
            <a:spAutoFit/>
          </a:bodyPr>
          <a:lstStyle/>
          <a:p>
            <a:pPr algn="ctr">
              <a:defRPr sz="1050" b="1">
                <a:solidFill>
                  <a:srgbClr val="FFFFFF"/>
                </a:solidFill>
              </a:defRPr>
            </a:pPr>
            <a:r>
              <a:t>Charging Fee</a:t>
            </a:r>
          </a:p>
          <a:p>
            <a:pPr algn="ctr">
              <a:spcBef>
                <a:spcPts val="400"/>
              </a:spcBef>
              <a:defRPr sz="900">
                <a:solidFill>
                  <a:srgbClr val="94A3B8"/>
                </a:solidFill>
              </a:defRPr>
            </a:pPr>
            <a:r>
              <a:t>Per-kWh markup</a:t>
            </a:r>
          </a:p>
        </p:txBody>
      </p:sp>
      <p:sp>
        <p:nvSpPr>
          <p:cNvPr id="14" name="Rounded Rectangle 13"/>
          <p:cNvSpPr/>
          <p:nvPr/>
        </p:nvSpPr>
        <p:spPr>
          <a:xfrm>
            <a:off x="2377440" y="4709160"/>
            <a:ext cx="1417320" cy="1325880"/>
          </a:xfrm>
          <a:prstGeom prst="roundRect">
            <a:avLst/>
          </a:prstGeom>
          <a:solidFill>
            <a:srgbClr val="02061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468880" y="4892040"/>
            <a:ext cx="1234440" cy="960120"/>
          </a:xfrm>
          <a:prstGeom prst="rect">
            <a:avLst/>
          </a:prstGeom>
          <a:noFill/>
        </p:spPr>
        <p:txBody>
          <a:bodyPr wrap="square" lIns="0" tIns="0" rIns="0" bIns="0">
            <a:spAutoFit/>
          </a:bodyPr>
          <a:lstStyle/>
          <a:p>
            <a:pPr algn="ctr">
              <a:defRPr sz="1050" b="1">
                <a:solidFill>
                  <a:srgbClr val="FFFFFF"/>
                </a:solidFill>
              </a:defRPr>
            </a:pPr>
            <a:r>
              <a:t>Valet Fee</a:t>
            </a:r>
          </a:p>
          <a:p>
            <a:pPr algn="ctr">
              <a:spcBef>
                <a:spcPts val="400"/>
              </a:spcBef>
              <a:defRPr sz="900">
                <a:solidFill>
                  <a:srgbClr val="94A3B8"/>
                </a:solidFill>
              </a:defRPr>
            </a:pPr>
            <a:r>
              <a:t>Pickup service</a:t>
            </a:r>
          </a:p>
        </p:txBody>
      </p:sp>
      <p:sp>
        <p:nvSpPr>
          <p:cNvPr id="16" name="Rounded Rectangle 15"/>
          <p:cNvSpPr/>
          <p:nvPr/>
        </p:nvSpPr>
        <p:spPr>
          <a:xfrm>
            <a:off x="3886200" y="4709160"/>
            <a:ext cx="1417320" cy="1325880"/>
          </a:xfrm>
          <a:prstGeom prst="roundRect">
            <a:avLst/>
          </a:prstGeom>
          <a:solidFill>
            <a:srgbClr val="02061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77639" y="4892040"/>
            <a:ext cx="1234440" cy="960120"/>
          </a:xfrm>
          <a:prstGeom prst="rect">
            <a:avLst/>
          </a:prstGeom>
          <a:noFill/>
        </p:spPr>
        <p:txBody>
          <a:bodyPr wrap="square" lIns="0" tIns="0" rIns="0" bIns="0">
            <a:spAutoFit/>
          </a:bodyPr>
          <a:lstStyle/>
          <a:p>
            <a:pPr algn="ctr">
              <a:defRPr sz="1050" b="1">
                <a:solidFill>
                  <a:srgbClr val="FFFFFF"/>
                </a:solidFill>
              </a:defRPr>
            </a:pPr>
            <a:r>
              <a:t>Platform Fee</a:t>
            </a:r>
          </a:p>
          <a:p>
            <a:pPr algn="ctr">
              <a:spcBef>
                <a:spcPts val="400"/>
              </a:spcBef>
              <a:defRPr sz="900">
                <a:solidFill>
                  <a:srgbClr val="94A3B8"/>
                </a:solidFill>
              </a:defRPr>
            </a:pPr>
            <a:r>
              <a:t>Clearing fee</a:t>
            </a:r>
          </a:p>
        </p:txBody>
      </p:sp>
      <p:sp>
        <p:nvSpPr>
          <p:cNvPr id="18" name="Rounded Rectangle 17"/>
          <p:cNvSpPr/>
          <p:nvPr/>
        </p:nvSpPr>
        <p:spPr>
          <a:xfrm>
            <a:off x="5394960" y="4709160"/>
            <a:ext cx="1417320" cy="1325880"/>
          </a:xfrm>
          <a:prstGeom prst="roundRect">
            <a:avLst/>
          </a:prstGeom>
          <a:solidFill>
            <a:srgbClr val="02061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0" y="4892040"/>
            <a:ext cx="1234440" cy="960120"/>
          </a:xfrm>
          <a:prstGeom prst="rect">
            <a:avLst/>
          </a:prstGeom>
          <a:noFill/>
        </p:spPr>
        <p:txBody>
          <a:bodyPr wrap="square" lIns="0" tIns="0" rIns="0" bIns="0">
            <a:spAutoFit/>
          </a:bodyPr>
          <a:lstStyle/>
          <a:p>
            <a:pPr algn="ctr">
              <a:defRPr sz="1050" b="1">
                <a:solidFill>
                  <a:srgbClr val="FFFFFF"/>
                </a:solidFill>
              </a:defRPr>
            </a:pPr>
            <a:r>
              <a:t>Host Cut</a:t>
            </a:r>
          </a:p>
          <a:p>
            <a:pPr algn="ctr">
              <a:spcBef>
                <a:spcPts val="400"/>
              </a:spcBef>
              <a:defRPr sz="900">
                <a:solidFill>
                  <a:srgbClr val="94A3B8"/>
                </a:solidFill>
              </a:defRPr>
            </a:pPr>
            <a:r>
              <a:t>Marketplace split</a:t>
            </a:r>
          </a:p>
        </p:txBody>
      </p:sp>
      <p:sp>
        <p:nvSpPr>
          <p:cNvPr id="20" name="Rounded Rectangle 19"/>
          <p:cNvSpPr/>
          <p:nvPr/>
        </p:nvSpPr>
        <p:spPr>
          <a:xfrm>
            <a:off x="6903720" y="4709160"/>
            <a:ext cx="1417320" cy="1325880"/>
          </a:xfrm>
          <a:prstGeom prst="roundRect">
            <a:avLst/>
          </a:prstGeom>
          <a:solidFill>
            <a:srgbClr val="02061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95160" y="4892040"/>
            <a:ext cx="1234440" cy="960120"/>
          </a:xfrm>
          <a:prstGeom prst="rect">
            <a:avLst/>
          </a:prstGeom>
          <a:noFill/>
        </p:spPr>
        <p:txBody>
          <a:bodyPr wrap="square" lIns="0" tIns="0" rIns="0" bIns="0">
            <a:spAutoFit/>
          </a:bodyPr>
          <a:lstStyle/>
          <a:p>
            <a:pPr algn="ctr">
              <a:defRPr sz="1050" b="1">
                <a:solidFill>
                  <a:srgbClr val="FFFFFF"/>
                </a:solidFill>
              </a:defRPr>
            </a:pPr>
            <a:r>
              <a:t>Membership</a:t>
            </a:r>
          </a:p>
          <a:p>
            <a:pPr algn="ctr">
              <a:spcBef>
                <a:spcPts val="400"/>
              </a:spcBef>
              <a:defRPr sz="900">
                <a:solidFill>
                  <a:srgbClr val="94A3B8"/>
                </a:solidFill>
              </a:defRPr>
            </a:pPr>
            <a:r>
              <a:t>Monthly tier</a:t>
            </a:r>
          </a:p>
        </p:txBody>
      </p:sp>
      <p:sp>
        <p:nvSpPr>
          <p:cNvPr id="22" name="Rounded Rectangle 21"/>
          <p:cNvSpPr/>
          <p:nvPr/>
        </p:nvSpPr>
        <p:spPr>
          <a:xfrm>
            <a:off x="8412480" y="4709160"/>
            <a:ext cx="1417320" cy="1325880"/>
          </a:xfrm>
          <a:prstGeom prst="roundRect">
            <a:avLst/>
          </a:prstGeom>
          <a:solidFill>
            <a:srgbClr val="02061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3919" y="4892040"/>
            <a:ext cx="1234440" cy="960120"/>
          </a:xfrm>
          <a:prstGeom prst="rect">
            <a:avLst/>
          </a:prstGeom>
          <a:noFill/>
        </p:spPr>
        <p:txBody>
          <a:bodyPr wrap="square" lIns="0" tIns="0" rIns="0" bIns="0">
            <a:spAutoFit/>
          </a:bodyPr>
          <a:lstStyle/>
          <a:p>
            <a:pPr algn="ctr">
              <a:defRPr sz="1050" b="1">
                <a:solidFill>
                  <a:srgbClr val="FFFFFF"/>
                </a:solidFill>
              </a:defRPr>
            </a:pPr>
            <a:r>
              <a:t>Fleet Plans</a:t>
            </a:r>
          </a:p>
          <a:p>
            <a:pPr algn="ctr">
              <a:spcBef>
                <a:spcPts val="400"/>
              </a:spcBef>
              <a:defRPr sz="900">
                <a:solidFill>
                  <a:srgbClr val="94A3B8"/>
                </a:solidFill>
              </a:defRPr>
            </a:pPr>
            <a:r>
              <a:t>B2B contracts</a:t>
            </a:r>
          </a:p>
        </p:txBody>
      </p:sp>
      <p:sp>
        <p:nvSpPr>
          <p:cNvPr id="24" name="Rounded Rectangle 23"/>
          <p:cNvSpPr/>
          <p:nvPr/>
        </p:nvSpPr>
        <p:spPr>
          <a:xfrm>
            <a:off x="9921240" y="4709160"/>
            <a:ext cx="1417320" cy="1325880"/>
          </a:xfrm>
          <a:prstGeom prst="roundRect">
            <a:avLst/>
          </a:prstGeom>
          <a:solidFill>
            <a:srgbClr val="020617"/>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12680" y="4892040"/>
            <a:ext cx="1234440" cy="960120"/>
          </a:xfrm>
          <a:prstGeom prst="rect">
            <a:avLst/>
          </a:prstGeom>
          <a:noFill/>
        </p:spPr>
        <p:txBody>
          <a:bodyPr wrap="square" lIns="0" tIns="0" rIns="0" bIns="0">
            <a:spAutoFit/>
          </a:bodyPr>
          <a:lstStyle/>
          <a:p>
            <a:pPr algn="ctr">
              <a:defRPr sz="1050" b="1">
                <a:solidFill>
                  <a:srgbClr val="FFFFFF"/>
                </a:solidFill>
              </a:defRPr>
            </a:pPr>
            <a:r>
              <a:t>Premium</a:t>
            </a:r>
          </a:p>
          <a:p>
            <a:pPr algn="ctr">
              <a:spcBef>
                <a:spcPts val="400"/>
              </a:spcBef>
              <a:defRPr sz="900">
                <a:solidFill>
                  <a:srgbClr val="94A3B8"/>
                </a:solidFill>
              </a:defRPr>
            </a:pPr>
            <a:r>
              <a:t>Care &amp; detail</a:t>
            </a:r>
          </a:p>
        </p:txBody>
      </p:sp>
      <p:sp>
        <p:nvSpPr>
          <p:cNvPr id="26" name="TextBox 25"/>
          <p:cNvSpPr txBox="1"/>
          <p:nvPr/>
        </p:nvSpPr>
        <p:spPr>
          <a:xfrm>
            <a:off x="731520" y="6446520"/>
            <a:ext cx="10728655" cy="274320"/>
          </a:xfrm>
          <a:prstGeom prst="rect">
            <a:avLst/>
          </a:prstGeom>
          <a:noFill/>
        </p:spPr>
        <p:txBody>
          <a:bodyPr wrap="none" lIns="0" tIns="0" rIns="0" bIns="0">
            <a:spAutoFit/>
          </a:bodyPr>
          <a:lstStyle/>
          <a:p>
            <a:pPr>
              <a:defRPr sz="900">
                <a:solidFill>
                  <a:srgbClr val="475569"/>
                </a:solidFill>
              </a:defRPr>
            </a:pPr>
            <a:r>
              <a:t>EV CHARGING NETWORK : Slide 11 of 13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206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728655" cy="868680"/>
          </a:xfrm>
          <a:prstGeom prst="rect">
            <a:avLst/>
          </a:prstGeom>
          <a:noFill/>
        </p:spPr>
        <p:txBody>
          <a:bodyPr wrap="square" lIns="0" tIns="0" rIns="0" bIns="0">
            <a:spAutoFit/>
          </a:bodyPr>
          <a:lstStyle/>
          <a:p>
            <a:pPr>
              <a:spcAft>
                <a:spcPts val="200"/>
              </a:spcAft>
              <a:defRPr sz="1000" b="1">
                <a:solidFill>
                  <a:srgbClr val="22D3EE"/>
                </a:solidFill>
              </a:defRPr>
            </a:pPr>
            <a:r>
              <a:t>11 : ROADMAP</a:t>
            </a:r>
          </a:p>
          <a:p>
            <a:pPr>
              <a:spcAft>
                <a:spcPts val="200"/>
              </a:spcAft>
              <a:defRPr sz="2200" b="1">
                <a:solidFill>
                  <a:srgbClr val="FFFFFF"/>
                </a:solidFill>
              </a:defRPr>
            </a:pPr>
            <a:r>
              <a:t>Pilot -&gt; network -&gt; scale</a:t>
            </a:r>
          </a:p>
          <a:p>
            <a:pPr>
              <a:defRPr sz="1100">
                <a:solidFill>
                  <a:srgbClr val="94A3B8"/>
                </a:solidFill>
              </a:defRPr>
            </a:pPr>
            <a:r>
              <a:t>Strategic 5-phase growth pathway to nationwide market leadership</a:t>
            </a:r>
          </a:p>
        </p:txBody>
      </p:sp>
      <p:sp>
        <p:nvSpPr>
          <p:cNvPr id="4" name="Rounded Rectangle 3"/>
          <p:cNvSpPr/>
          <p:nvPr/>
        </p:nvSpPr>
        <p:spPr>
          <a:xfrm>
            <a:off x="731520" y="1463040"/>
            <a:ext cx="2057400" cy="4800600"/>
          </a:xfrm>
          <a:prstGeom prst="roundRect">
            <a:avLst/>
          </a:prstGeom>
          <a:solidFill>
            <a:srgbClr val="0F172A"/>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45920"/>
            <a:ext cx="1783080" cy="4389120"/>
          </a:xfrm>
          <a:prstGeom prst="rect">
            <a:avLst/>
          </a:prstGeom>
          <a:noFill/>
        </p:spPr>
        <p:txBody>
          <a:bodyPr wrap="square" lIns="0" tIns="0" rIns="0" bIns="0">
            <a:spAutoFit/>
          </a:bodyPr>
          <a:lstStyle/>
          <a:p>
            <a:pPr>
              <a:defRPr sz="2000" b="1">
                <a:solidFill>
                  <a:srgbClr val="22D3EE"/>
                </a:solidFill>
              </a:defRPr>
            </a:pPr>
            <a:r>
              <a:t>01</a:t>
            </a:r>
          </a:p>
          <a:p>
            <a:pPr>
              <a:spcBef>
                <a:spcPts val="200"/>
              </a:spcBef>
              <a:defRPr sz="1400" b="1">
                <a:solidFill>
                  <a:srgbClr val="FFFFFF"/>
                </a:solidFill>
              </a:defRPr>
            </a:pPr>
            <a:r>
              <a:t>Pilot</a:t>
            </a:r>
          </a:p>
          <a:p>
            <a:pPr>
              <a:spcBef>
                <a:spcPts val="100"/>
              </a:spcBef>
              <a:spcAft>
                <a:spcPts val="800"/>
              </a:spcAft>
              <a:defRPr sz="950" b="1">
                <a:solidFill>
                  <a:srgbClr val="67E8F9"/>
                </a:solidFill>
              </a:defRPr>
            </a:pPr>
            <a:r>
              <a:t>Charging hub + valet in one city</a:t>
            </a:r>
          </a:p>
          <a:p>
            <a:pPr>
              <a:spcAft>
                <a:spcPts val="1600"/>
              </a:spcAft>
              <a:defRPr sz="950">
                <a:solidFill>
                  <a:srgbClr val="CBD5E1"/>
                </a:solidFill>
              </a:defRPr>
            </a:pPr>
            <a:r>
              <a:t>Validate valet turnaround logistics, app booking, and subscriber retention in flagship metro.</a:t>
            </a:r>
          </a:p>
          <a:p>
            <a:pPr>
              <a:defRPr sz="900">
                <a:solidFill>
                  <a:srgbClr val="94A3B8"/>
                </a:solidFill>
              </a:defRPr>
            </a:pPr>
            <a:r>
              <a:t>Phase 1</a:t>
            </a:r>
          </a:p>
        </p:txBody>
      </p:sp>
      <p:sp>
        <p:nvSpPr>
          <p:cNvPr id="6" name="Rounded Rectangle 5"/>
          <p:cNvSpPr/>
          <p:nvPr/>
        </p:nvSpPr>
        <p:spPr>
          <a:xfrm>
            <a:off x="2898648" y="1463040"/>
            <a:ext cx="2057400" cy="480060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035808" y="1645920"/>
            <a:ext cx="1783080" cy="4389120"/>
          </a:xfrm>
          <a:prstGeom prst="rect">
            <a:avLst/>
          </a:prstGeom>
          <a:noFill/>
        </p:spPr>
        <p:txBody>
          <a:bodyPr wrap="square" lIns="0" tIns="0" rIns="0" bIns="0">
            <a:spAutoFit/>
          </a:bodyPr>
          <a:lstStyle/>
          <a:p>
            <a:pPr>
              <a:defRPr sz="2000" b="1">
                <a:solidFill>
                  <a:srgbClr val="64748B"/>
                </a:solidFill>
              </a:defRPr>
            </a:pPr>
            <a:r>
              <a:t>02</a:t>
            </a:r>
          </a:p>
          <a:p>
            <a:pPr>
              <a:spcBef>
                <a:spcPts val="200"/>
              </a:spcBef>
              <a:defRPr sz="1400" b="1">
                <a:solidFill>
                  <a:srgbClr val="FFFFFF"/>
                </a:solidFill>
              </a:defRPr>
            </a:pPr>
            <a:r>
              <a:t>Connect</a:t>
            </a:r>
          </a:p>
          <a:p>
            <a:pPr>
              <a:spcBef>
                <a:spcPts val="100"/>
              </a:spcBef>
              <a:spcAft>
                <a:spcPts val="800"/>
              </a:spcAft>
              <a:defRPr sz="950" b="1">
                <a:solidFill>
                  <a:srgbClr val="CBD5E1"/>
                </a:solidFill>
              </a:defRPr>
            </a:pPr>
            <a:r>
              <a:t>Verified residential / commercial</a:t>
            </a:r>
          </a:p>
          <a:p>
            <a:pPr>
              <a:spcAft>
                <a:spcPts val="1600"/>
              </a:spcAft>
              <a:defRPr sz="950">
                <a:solidFill>
                  <a:srgbClr val="CBD5E1"/>
                </a:solidFill>
              </a:defRPr>
            </a:pPr>
            <a:r>
              <a:t>Onboard first 250 private host chargers with external smart lock controllers and CCTV kits.</a:t>
            </a:r>
          </a:p>
          <a:p>
            <a:pPr>
              <a:defRPr sz="900">
                <a:solidFill>
                  <a:srgbClr val="94A3B8"/>
                </a:solidFill>
              </a:defRPr>
            </a:pPr>
            <a:r>
              <a:t>Phase 2</a:t>
            </a:r>
          </a:p>
        </p:txBody>
      </p:sp>
      <p:sp>
        <p:nvSpPr>
          <p:cNvPr id="8" name="Rounded Rectangle 7"/>
          <p:cNvSpPr/>
          <p:nvPr/>
        </p:nvSpPr>
        <p:spPr>
          <a:xfrm>
            <a:off x="5065776" y="1463040"/>
            <a:ext cx="2057400" cy="480060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202936" y="1645920"/>
            <a:ext cx="1783080" cy="4389120"/>
          </a:xfrm>
          <a:prstGeom prst="rect">
            <a:avLst/>
          </a:prstGeom>
          <a:noFill/>
        </p:spPr>
        <p:txBody>
          <a:bodyPr wrap="square" lIns="0" tIns="0" rIns="0" bIns="0">
            <a:spAutoFit/>
          </a:bodyPr>
          <a:lstStyle/>
          <a:p>
            <a:pPr>
              <a:defRPr sz="2000" b="1">
                <a:solidFill>
                  <a:srgbClr val="64748B"/>
                </a:solidFill>
              </a:defRPr>
            </a:pPr>
            <a:r>
              <a:t>03</a:t>
            </a:r>
          </a:p>
          <a:p>
            <a:pPr>
              <a:spcBef>
                <a:spcPts val="200"/>
              </a:spcBef>
              <a:defRPr sz="1400" b="1">
                <a:solidFill>
                  <a:srgbClr val="FFFFFF"/>
                </a:solidFill>
              </a:defRPr>
            </a:pPr>
            <a:r>
              <a:t>Self-service</a:t>
            </a:r>
          </a:p>
          <a:p>
            <a:pPr>
              <a:spcBef>
                <a:spcPts val="100"/>
              </a:spcBef>
              <a:spcAft>
                <a:spcPts val="800"/>
              </a:spcAft>
              <a:defRPr sz="950" b="1">
                <a:solidFill>
                  <a:srgbClr val="CBD5E1"/>
                </a:solidFill>
              </a:defRPr>
            </a:pPr>
            <a:r>
              <a:t>Secure highway charging</a:t>
            </a:r>
          </a:p>
          <a:p>
            <a:pPr>
              <a:spcAft>
                <a:spcPts val="1600"/>
              </a:spcAft>
              <a:defRPr sz="950">
                <a:solidFill>
                  <a:srgbClr val="CBD5E1"/>
                </a:solidFill>
              </a:defRPr>
            </a:pPr>
            <a:r>
              <a:t>Deploy automated IoT smart locks along key highway transit corridors for unassisted travel.</a:t>
            </a:r>
          </a:p>
          <a:p>
            <a:pPr>
              <a:defRPr sz="900">
                <a:solidFill>
                  <a:srgbClr val="94A3B8"/>
                </a:solidFill>
              </a:defRPr>
            </a:pPr>
            <a:r>
              <a:t>Phase 3</a:t>
            </a:r>
          </a:p>
        </p:txBody>
      </p:sp>
      <p:sp>
        <p:nvSpPr>
          <p:cNvPr id="10" name="Rounded Rectangle 9"/>
          <p:cNvSpPr/>
          <p:nvPr/>
        </p:nvSpPr>
        <p:spPr>
          <a:xfrm>
            <a:off x="7232904" y="1463040"/>
            <a:ext cx="2057400" cy="480060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70064" y="1645920"/>
            <a:ext cx="1783080" cy="4389120"/>
          </a:xfrm>
          <a:prstGeom prst="rect">
            <a:avLst/>
          </a:prstGeom>
          <a:noFill/>
        </p:spPr>
        <p:txBody>
          <a:bodyPr wrap="square" lIns="0" tIns="0" rIns="0" bIns="0">
            <a:spAutoFit/>
          </a:bodyPr>
          <a:lstStyle/>
          <a:p>
            <a:pPr>
              <a:defRPr sz="2000" b="1">
                <a:solidFill>
                  <a:srgbClr val="64748B"/>
                </a:solidFill>
              </a:defRPr>
            </a:pPr>
            <a:r>
              <a:t>04</a:t>
            </a:r>
          </a:p>
          <a:p>
            <a:pPr>
              <a:spcBef>
                <a:spcPts val="200"/>
              </a:spcBef>
              <a:defRPr sz="1400" b="1">
                <a:solidFill>
                  <a:srgbClr val="FFFFFF"/>
                </a:solidFill>
              </a:defRPr>
            </a:pPr>
            <a:r>
              <a:t>Expand</a:t>
            </a:r>
          </a:p>
          <a:p>
            <a:pPr>
              <a:spcBef>
                <a:spcPts val="100"/>
              </a:spcBef>
              <a:spcAft>
                <a:spcPts val="800"/>
              </a:spcAft>
              <a:defRPr sz="950" b="1">
                <a:solidFill>
                  <a:srgbClr val="CBD5E1"/>
                </a:solidFill>
              </a:defRPr>
            </a:pPr>
            <a:r>
              <a:t>Geographic network growth</a:t>
            </a:r>
          </a:p>
          <a:p>
            <a:pPr>
              <a:spcAft>
                <a:spcPts val="1600"/>
              </a:spcAft>
              <a:defRPr sz="950">
                <a:solidFill>
                  <a:srgbClr val="CBD5E1"/>
                </a:solidFill>
              </a:defRPr>
            </a:pPr>
            <a:r>
              <a:t>Multi-city launch with 10 urban hubs and 2,500+ host locations across high-adoption states.</a:t>
            </a:r>
          </a:p>
          <a:p>
            <a:pPr>
              <a:defRPr sz="900">
                <a:solidFill>
                  <a:srgbClr val="94A3B8"/>
                </a:solidFill>
              </a:defRPr>
            </a:pPr>
            <a:r>
              <a:t>Phase 4</a:t>
            </a:r>
          </a:p>
        </p:txBody>
      </p:sp>
      <p:sp>
        <p:nvSpPr>
          <p:cNvPr id="12" name="Rounded Rectangle 11"/>
          <p:cNvSpPr/>
          <p:nvPr/>
        </p:nvSpPr>
        <p:spPr>
          <a:xfrm>
            <a:off x="9400032" y="1463040"/>
            <a:ext cx="2057400" cy="480060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537192" y="1645920"/>
            <a:ext cx="1783080" cy="4389120"/>
          </a:xfrm>
          <a:prstGeom prst="rect">
            <a:avLst/>
          </a:prstGeom>
          <a:noFill/>
        </p:spPr>
        <p:txBody>
          <a:bodyPr wrap="square" lIns="0" tIns="0" rIns="0" bIns="0">
            <a:spAutoFit/>
          </a:bodyPr>
          <a:lstStyle/>
          <a:p>
            <a:pPr>
              <a:defRPr sz="2000" b="1">
                <a:solidFill>
                  <a:srgbClr val="64748B"/>
                </a:solidFill>
              </a:defRPr>
            </a:pPr>
            <a:r>
              <a:t>05</a:t>
            </a:r>
          </a:p>
          <a:p>
            <a:pPr>
              <a:spcBef>
                <a:spcPts val="200"/>
              </a:spcBef>
              <a:defRPr sz="1400" b="1">
                <a:solidFill>
                  <a:srgbClr val="FFFFFF"/>
                </a:solidFill>
              </a:defRPr>
            </a:pPr>
            <a:r>
              <a:t>Integrate</a:t>
            </a:r>
          </a:p>
          <a:p>
            <a:pPr>
              <a:spcBef>
                <a:spcPts val="100"/>
              </a:spcBef>
              <a:spcAft>
                <a:spcPts val="800"/>
              </a:spcAft>
              <a:defRPr sz="950" b="1">
                <a:solidFill>
                  <a:srgbClr val="CBD5E1"/>
                </a:solidFill>
              </a:defRPr>
            </a:pPr>
            <a:r>
              <a:t>Fleets, hotels, parking</a:t>
            </a:r>
          </a:p>
          <a:p>
            <a:pPr>
              <a:spcAft>
                <a:spcPts val="1600"/>
              </a:spcAft>
              <a:defRPr sz="950">
                <a:solidFill>
                  <a:srgbClr val="CBD5E1"/>
                </a:solidFill>
              </a:defRPr>
            </a:pPr>
            <a:r>
              <a:t>Commercial fleet partnerships, hospitality chains, and utility grid peak-shaving demand response.</a:t>
            </a:r>
          </a:p>
          <a:p>
            <a:pPr>
              <a:defRPr sz="900">
                <a:solidFill>
                  <a:srgbClr val="94A3B8"/>
                </a:solidFill>
              </a:defRPr>
            </a:pPr>
            <a:r>
              <a:t>Phase 5</a:t>
            </a:r>
          </a:p>
        </p:txBody>
      </p:sp>
      <p:sp>
        <p:nvSpPr>
          <p:cNvPr id="14" name="TextBox 13"/>
          <p:cNvSpPr txBox="1"/>
          <p:nvPr/>
        </p:nvSpPr>
        <p:spPr>
          <a:xfrm>
            <a:off x="731520" y="6446520"/>
            <a:ext cx="10728655" cy="274320"/>
          </a:xfrm>
          <a:prstGeom prst="rect">
            <a:avLst/>
          </a:prstGeom>
          <a:noFill/>
        </p:spPr>
        <p:txBody>
          <a:bodyPr wrap="none" lIns="0" tIns="0" rIns="0" bIns="0">
            <a:spAutoFit/>
          </a:bodyPr>
          <a:lstStyle/>
          <a:p>
            <a:pPr>
              <a:defRPr sz="900">
                <a:solidFill>
                  <a:srgbClr val="475569"/>
                </a:solidFill>
              </a:defRPr>
            </a:pPr>
            <a:r>
              <a:t>EV CHARGING NETWORK : Slide 12 of 13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206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97280"/>
          </a:xfrm>
          <a:prstGeom prst="rect">
            <a:avLst/>
          </a:prstGeom>
          <a:noFill/>
        </p:spPr>
        <p:txBody>
          <a:bodyPr wrap="square" lIns="0" tIns="0" rIns="0" bIns="0">
            <a:spAutoFit/>
          </a:bodyPr>
          <a:lstStyle/>
          <a:p>
            <a:pPr algn="ctr">
              <a:defRPr sz="950" b="1">
                <a:solidFill>
                  <a:srgbClr val="22D3EE"/>
                </a:solidFill>
              </a:defRPr>
            </a:pPr>
            <a:r>
              <a:t>EXECUTIVE SUMMARY</a:t>
            </a:r>
          </a:p>
          <a:p>
            <a:pPr algn="ctr">
              <a:spcBef>
                <a:spcPts val="100"/>
              </a:spcBef>
              <a:defRPr sz="2600" b="1">
                <a:solidFill>
                  <a:srgbClr val="FFFFFF"/>
                </a:solidFill>
              </a:defRPr>
            </a:pPr>
            <a:r>
              <a:t>CHARGE WITHOUT THE CHASE.</a:t>
            </a:r>
          </a:p>
          <a:p>
            <a:pPr algn="ctr">
              <a:spcBef>
                <a:spcPts val="200"/>
              </a:spcBef>
              <a:defRPr sz="1150">
                <a:solidFill>
                  <a:srgbClr val="67E8F9"/>
                </a:solidFill>
              </a:defRPr>
            </a:pPr>
            <a:r>
              <a:t>From apartment charging to highway mobility - one secure EV charging network.</a:t>
            </a:r>
          </a:p>
        </p:txBody>
      </p:sp>
      <p:pic>
        <p:nvPicPr>
          <p:cNvPr id="4" name="Picture 3" descr="highway_scenic_ev_5.20x2.85.jpg"/>
          <p:cNvPicPr>
            <a:picLocks noChangeAspect="1"/>
          </p:cNvPicPr>
          <p:nvPr/>
        </p:nvPicPr>
        <p:blipFill>
          <a:blip r:embed="rId2"/>
          <a:stretch>
            <a:fillRect/>
          </a:stretch>
        </p:blipFill>
        <p:spPr>
          <a:xfrm>
            <a:off x="731520" y="1600200"/>
            <a:ext cx="4754880" cy="2606040"/>
          </a:xfrm>
          <a:prstGeom prst="rect">
            <a:avLst/>
          </a:prstGeom>
        </p:spPr>
      </p:pic>
      <p:sp>
        <p:nvSpPr>
          <p:cNvPr id="5" name="Rectangle 4"/>
          <p:cNvSpPr/>
          <p:nvPr/>
        </p:nvSpPr>
        <p:spPr>
          <a:xfrm>
            <a:off x="731520" y="1600200"/>
            <a:ext cx="4754880" cy="2606040"/>
          </a:xfrm>
          <a:prstGeom prst="rect">
            <a:avLst/>
          </a:prstGeom>
          <a:noFill/>
          <a:ln w="1905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68680" y="3383279"/>
            <a:ext cx="4480560" cy="68580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3456432"/>
            <a:ext cx="4206240" cy="539496"/>
          </a:xfrm>
          <a:prstGeom prst="rect">
            <a:avLst/>
          </a:prstGeom>
          <a:noFill/>
        </p:spPr>
        <p:txBody>
          <a:bodyPr wrap="square" lIns="0" tIns="0" rIns="0" bIns="0">
            <a:spAutoFit/>
          </a:bodyPr>
          <a:lstStyle/>
          <a:p>
            <a:pPr>
              <a:defRPr sz="850" b="1">
                <a:solidFill>
                  <a:srgbClr val="22D3EE"/>
                </a:solidFill>
              </a:defRPr>
            </a:pPr>
            <a:r>
              <a:t>CORRIDOR FREEDOM</a:t>
            </a:r>
          </a:p>
          <a:p>
            <a:pPr>
              <a:spcBef>
                <a:spcPts val="200"/>
              </a:spcBef>
              <a:defRPr sz="950">
                <a:solidFill>
                  <a:srgbClr val="FFFFFF"/>
                </a:solidFill>
              </a:defRPr>
            </a:pPr>
            <a:r>
              <a:t>Connected highway route travel with verified host chargers.</a:t>
            </a:r>
          </a:p>
        </p:txBody>
      </p:sp>
      <p:sp>
        <p:nvSpPr>
          <p:cNvPr id="8" name="Rounded Rectangle 7"/>
          <p:cNvSpPr/>
          <p:nvPr/>
        </p:nvSpPr>
        <p:spPr>
          <a:xfrm>
            <a:off x="5715000" y="1600200"/>
            <a:ext cx="2788920" cy="123444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852160" y="1709928"/>
            <a:ext cx="2514600" cy="1014984"/>
          </a:xfrm>
          <a:prstGeom prst="rect">
            <a:avLst/>
          </a:prstGeom>
          <a:noFill/>
        </p:spPr>
        <p:txBody>
          <a:bodyPr wrap="square" lIns="0" tIns="0" rIns="0" bIns="0">
            <a:spAutoFit/>
          </a:bodyPr>
          <a:lstStyle/>
          <a:p>
            <a:pPr>
              <a:defRPr sz="1050" b="1">
                <a:solidFill>
                  <a:srgbClr val="FFFFFF"/>
                </a:solidFill>
              </a:defRPr>
            </a:pPr>
            <a:r>
              <a:t>CONVENIENCE</a:t>
            </a:r>
          </a:p>
          <a:p>
            <a:pPr>
              <a:spcBef>
                <a:spcPts val="200"/>
              </a:spcBef>
              <a:defRPr sz="950">
                <a:solidFill>
                  <a:srgbClr val="94A3B8"/>
                </a:solidFill>
              </a:defRPr>
            </a:pPr>
            <a:r>
              <a:t>Eliminates charging chores for apartment residents via scheduled valet service.</a:t>
            </a:r>
          </a:p>
        </p:txBody>
      </p:sp>
      <p:sp>
        <p:nvSpPr>
          <p:cNvPr id="10" name="Rounded Rectangle 9"/>
          <p:cNvSpPr/>
          <p:nvPr/>
        </p:nvSpPr>
        <p:spPr>
          <a:xfrm>
            <a:off x="8716975" y="1600200"/>
            <a:ext cx="2788920" cy="123444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54135" y="1709928"/>
            <a:ext cx="2514600" cy="1014984"/>
          </a:xfrm>
          <a:prstGeom prst="rect">
            <a:avLst/>
          </a:prstGeom>
          <a:noFill/>
        </p:spPr>
        <p:txBody>
          <a:bodyPr wrap="square" lIns="0" tIns="0" rIns="0" bIns="0">
            <a:spAutoFit/>
          </a:bodyPr>
          <a:lstStyle/>
          <a:p>
            <a:pPr>
              <a:defRPr sz="1050" b="1">
                <a:solidFill>
                  <a:srgbClr val="FFFFFF"/>
                </a:solidFill>
              </a:defRPr>
            </a:pPr>
            <a:r>
              <a:t>SECURITY</a:t>
            </a:r>
          </a:p>
          <a:p>
            <a:pPr>
              <a:spcBef>
                <a:spcPts val="200"/>
              </a:spcBef>
              <a:defRPr sz="950">
                <a:solidFill>
                  <a:srgbClr val="94A3B8"/>
                </a:solidFill>
              </a:defRPr>
            </a:pPr>
            <a:r>
              <a:t>3-zone perimeter, CCTV event logs, smart hardware lock, and evidence verification.</a:t>
            </a:r>
          </a:p>
        </p:txBody>
      </p:sp>
      <p:sp>
        <p:nvSpPr>
          <p:cNvPr id="12" name="Rounded Rectangle 11"/>
          <p:cNvSpPr/>
          <p:nvPr/>
        </p:nvSpPr>
        <p:spPr>
          <a:xfrm>
            <a:off x="5715000" y="2971800"/>
            <a:ext cx="2788920" cy="123444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852160" y="3081528"/>
            <a:ext cx="2514600" cy="1014984"/>
          </a:xfrm>
          <a:prstGeom prst="rect">
            <a:avLst/>
          </a:prstGeom>
          <a:noFill/>
        </p:spPr>
        <p:txBody>
          <a:bodyPr wrap="square" lIns="0" tIns="0" rIns="0" bIns="0">
            <a:spAutoFit/>
          </a:bodyPr>
          <a:lstStyle/>
          <a:p>
            <a:pPr>
              <a:defRPr sz="1050" b="1">
                <a:solidFill>
                  <a:srgbClr val="FFFFFF"/>
                </a:solidFill>
              </a:defRPr>
            </a:pPr>
            <a:r>
              <a:t>UTILIZATION</a:t>
            </a:r>
          </a:p>
          <a:p>
            <a:pPr>
              <a:spcBef>
                <a:spcPts val="200"/>
              </a:spcBef>
              <a:defRPr sz="950">
                <a:solidFill>
                  <a:srgbClr val="94A3B8"/>
                </a:solidFill>
              </a:defRPr>
            </a:pPr>
            <a:r>
              <a:t>Monetizes idle private chargers, bridging highway range gaps with zero CapEx.</a:t>
            </a:r>
          </a:p>
        </p:txBody>
      </p:sp>
      <p:sp>
        <p:nvSpPr>
          <p:cNvPr id="14" name="Rounded Rectangle 13"/>
          <p:cNvSpPr/>
          <p:nvPr/>
        </p:nvSpPr>
        <p:spPr>
          <a:xfrm>
            <a:off x="8716975" y="2971800"/>
            <a:ext cx="2788920" cy="123444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54135" y="3081528"/>
            <a:ext cx="2514600" cy="1014984"/>
          </a:xfrm>
          <a:prstGeom prst="rect">
            <a:avLst/>
          </a:prstGeom>
          <a:noFill/>
        </p:spPr>
        <p:txBody>
          <a:bodyPr wrap="square" lIns="0" tIns="0" rIns="0" bIns="0">
            <a:spAutoFit/>
          </a:bodyPr>
          <a:lstStyle/>
          <a:p>
            <a:pPr>
              <a:defRPr sz="1050" b="1">
                <a:solidFill>
                  <a:srgbClr val="FFFFFF"/>
                </a:solidFill>
              </a:defRPr>
            </a:pPr>
            <a:r>
              <a:t>SCALABILITY</a:t>
            </a:r>
          </a:p>
          <a:p>
            <a:pPr>
              <a:spcBef>
                <a:spcPts val="200"/>
              </a:spcBef>
              <a:defRPr sz="950">
                <a:solidFill>
                  <a:srgbClr val="94A3B8"/>
                </a:solidFill>
              </a:defRPr>
            </a:pPr>
            <a:r>
              <a:t>Owned hubs combined with asset-light host network scales rapidly.</a:t>
            </a:r>
          </a:p>
        </p:txBody>
      </p:sp>
      <p:sp>
        <p:nvSpPr>
          <p:cNvPr id="16" name="Rounded Rectangle 15"/>
          <p:cNvSpPr/>
          <p:nvPr/>
        </p:nvSpPr>
        <p:spPr>
          <a:xfrm>
            <a:off x="731520" y="4389120"/>
            <a:ext cx="10728655" cy="1691640"/>
          </a:xfrm>
          <a:prstGeom prst="roundRect">
            <a:avLst/>
          </a:prstGeom>
          <a:solidFill>
            <a:srgbClr val="0F172A"/>
          </a:solidFill>
          <a:ln w="12700">
            <a:solidFill>
              <a:srgbClr val="1E2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526280"/>
            <a:ext cx="10362895" cy="1417320"/>
          </a:xfrm>
          <a:prstGeom prst="rect">
            <a:avLst/>
          </a:prstGeom>
          <a:noFill/>
        </p:spPr>
        <p:txBody>
          <a:bodyPr wrap="square" lIns="0" tIns="0" rIns="0" bIns="0">
            <a:spAutoFit/>
          </a:bodyPr>
          <a:lstStyle/>
          <a:p>
            <a:pPr>
              <a:defRPr sz="1000" b="1">
                <a:solidFill>
                  <a:srgbClr val="22D3EE"/>
                </a:solidFill>
              </a:defRPr>
            </a:pPr>
            <a:r>
              <a:t>EXECUTIVE CONCLUSION</a:t>
            </a:r>
          </a:p>
          <a:p>
            <a:pPr>
              <a:spcBef>
                <a:spcPts val="200"/>
              </a:spcBef>
              <a:defRPr sz="1050">
                <a:solidFill>
                  <a:srgbClr val="CBD5E1"/>
                </a:solidFill>
              </a:defRPr>
            </a:pPr>
            <a:r>
              <a:t>By integrating company-owned high-density vertical hubs with a verified distributed host network, the platform resolves both urban residential charging barriers and long-distance highway travel anxiety without capital duplication.</a:t>
            </a:r>
          </a:p>
          <a:p>
            <a:pPr>
              <a:spcBef>
                <a:spcPts val="300"/>
              </a:spcBef>
              <a:defRPr sz="1000">
                <a:solidFill>
                  <a:srgbClr val="94A3B8"/>
                </a:solidFill>
              </a:defRPr>
            </a:pPr>
            <a:r>
              <a:t>Charging infrastructure transitions from an inconvenient stationary destination into a seamless, coordinated network service: delivering high utilization for hosts and effortless convenience for EV owners.</a:t>
            </a:r>
          </a:p>
        </p:txBody>
      </p:sp>
      <p:sp>
        <p:nvSpPr>
          <p:cNvPr id="18" name="TextBox 17"/>
          <p:cNvSpPr txBox="1"/>
          <p:nvPr/>
        </p:nvSpPr>
        <p:spPr>
          <a:xfrm>
            <a:off x="731520" y="6172200"/>
            <a:ext cx="10728655" cy="274320"/>
          </a:xfrm>
          <a:prstGeom prst="rect">
            <a:avLst/>
          </a:prstGeom>
          <a:noFill/>
        </p:spPr>
        <p:txBody>
          <a:bodyPr wrap="square" lIns="0" tIns="0" rIns="0" bIns="0">
            <a:spAutoFit/>
          </a:bodyPr>
          <a:lstStyle/>
          <a:p>
            <a:pPr algn="ctr">
              <a:defRPr sz="900">
                <a:solidFill>
                  <a:srgbClr val="64748B"/>
                </a:solidFill>
              </a:defRPr>
            </a:pPr>
            <a:r>
              <a:t>Proposed concept - technology, hardware and operational details should be validated during pilot implementation.</a:t>
            </a:r>
          </a:p>
        </p:txBody>
      </p:sp>
      <p:sp>
        <p:nvSpPr>
          <p:cNvPr id="19" name="TextBox 18"/>
          <p:cNvSpPr txBox="1"/>
          <p:nvPr/>
        </p:nvSpPr>
        <p:spPr>
          <a:xfrm>
            <a:off x="731520" y="6446520"/>
            <a:ext cx="10728655" cy="274320"/>
          </a:xfrm>
          <a:prstGeom prst="rect">
            <a:avLst/>
          </a:prstGeom>
          <a:noFill/>
        </p:spPr>
        <p:txBody>
          <a:bodyPr wrap="none" lIns="0" tIns="0" rIns="0" bIns="0">
            <a:spAutoFit/>
          </a:bodyPr>
          <a:lstStyle/>
          <a:p>
            <a:pPr>
              <a:defRPr sz="900">
                <a:solidFill>
                  <a:srgbClr val="475569"/>
                </a:solidFill>
              </a:defRPr>
            </a:pPr>
            <a:r>
              <a:t>EV CHARGING NETWORK : Slide 13 of 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