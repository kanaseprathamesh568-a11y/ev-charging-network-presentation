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</a:defRPr>
            </a:pPr>
            <a:r>
              <a:t>EV CHARGING NETWORK</a:t>
            </a:r>
          </a:p>
          <a:p>
            <a:pPr algn="ctr">
              <a:spcBef>
                <a:spcPts val="1000"/>
              </a:spcBef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A secure, convenient and scalable charging ecosystem</a:t>
            </a:r>
          </a:p>
          <a:p>
            <a:pPr algn="ctr">
              <a:defRPr sz="2000" b="1">
                <a:solidFill>
                  <a:srgbClr val="06B6D4"/>
                </a:solidFill>
              </a:defRPr>
            </a:pPr>
            <a:r>
              <a:t>YOU DON'T NEED TO FIND A CHARGER.</a:t>
            </a:r>
            <a:br/>
            <a:r>
              <a:t>WE BRING CHARGING TO 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931920"/>
            <a:ext cx="484632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4389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URBAN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Charging Hub + Valet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High density vertical parking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Effortless routine EV charging for apartment owners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931920"/>
            <a:ext cx="484632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4160520"/>
            <a:ext cx="4389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■■  HIGHWAY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Secure Distributed Charging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Turn unused private capacity into network capacity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Self-service with 3-zone smart perimeter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01 • PROBLEM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The problem in one picture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Apartment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No dedicated charger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Lack of high-voltage wiring in shared garages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Overnight charging barrier for 40%+ of EV buyers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2743200"/>
            <a:ext cx="457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01168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EV OWNER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Needs routine charging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Wants zero friction and predictable schedules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Relies heavily on inconsistent public infra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743200"/>
            <a:ext cx="457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011680"/>
            <a:ext cx="329184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240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Public charger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Travel + wait + availability uncertainty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Queue times and frequent offline dispensers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Diverts valuable personal and productive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1072865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400">
                <a:solidFill>
                  <a:srgbClr val="94A3B8"/>
                </a:solidFill>
              </a:defRPr>
            </a:pPr>
            <a:r>
              <a:t>The second problem: long-distance EV travel can have charging gaps, while many private chargers sit unused for hours.</a:t>
            </a:r>
          </a:p>
          <a:p>
            <a:pPr>
              <a:defRPr sz="1800" b="1">
                <a:solidFill>
                  <a:srgbClr val="67E8F9"/>
                </a:solidFill>
              </a:defRPr>
            </a:pPr>
            <a:r>
              <a:t>Opportunity: connect convenience with underutilized charging capacity.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02 • SOLUTION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One platform. Two charging models.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Unifying high-density urban hubs with asset-light distributed networks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20640" cy="3749039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4663440" cy="329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MODEL 1: CHARGING HUB</a:t>
            </a:r>
          </a:p>
          <a:p>
            <a:pPr>
              <a:spcAft>
                <a:spcPts val="1000"/>
              </a:spcAft>
              <a:defRPr sz="1200">
                <a:solidFill>
                  <a:srgbClr val="06B6D4"/>
                </a:solidFill>
              </a:defRPr>
            </a:pPr>
            <a:r>
              <a:t>Urban Fleet &amp; Valet Infrastructure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Company-owned &amp; operated urban hubs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Vertical parking density for maximum land efficiency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Dedicated charging access at every parking spot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Integrated solar generation &amp; battery storage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White-glove valet pickup &amp; scheduled return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Zero charging chore for the apartment owner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120640" cy="3749039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663440" cy="329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MODEL 2: DISTRIBUTED NETWORK</a:t>
            </a:r>
          </a:p>
          <a:p>
            <a:pPr>
              <a:spcAft>
                <a:spcPts val="1000"/>
              </a:spcAft>
              <a:defRPr sz="1200">
                <a:solidFill>
                  <a:srgbClr val="06B6D4"/>
                </a:solidFill>
              </a:defRPr>
            </a:pPr>
            <a:r>
              <a:t>Asset-Light Highway Host Network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Verified residential &amp; commercial private chargers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Secure self-service access with IoT smart controllers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Expands coverage along highway transit corridors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Monetizes idle host hardware with guaranteed payouts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Zero operator CapEx for building new charging poles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■  Eliminates highway range anxiety seamlessly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03 • URBAN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Model 1 — Charging Hub + Valet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Complete door-to-door concierge charging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STEP 01</a:t>
            </a:r>
            <a:br/>
            <a:r>
              <a:t>■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22860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79" y="201168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STEP 02</a:t>
            </a:r>
            <a:br/>
            <a:r>
              <a:t>■ Verified pickup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598" y="22860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38" y="201168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STEP 03</a:t>
            </a:r>
            <a:br/>
            <a:r>
              <a:t>■ Vertical 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7" y="22860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7" y="201168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STEP 04</a:t>
            </a:r>
            <a:br/>
            <a:r>
              <a:t>■ 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6" y="22860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56" y="201168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STEP 05</a:t>
            </a:r>
            <a:br/>
            <a:r>
              <a:t>■ Return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338328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VERTICAL PARKING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More vehicles per unit of land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Automated multi-level stacking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Ideal for dense metropolitan city 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40480"/>
            <a:ext cx="338328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406908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DEDICATED CHARGERS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Each parking position has charging access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No vehicle shuffling or unplugging mid-charge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Intelligent load-balancing across stalls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840480"/>
            <a:ext cx="3383280" cy="20116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069080"/>
            <a:ext cx="292608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SOLAR POTENTIAL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Roof &amp; canopy structure generates clean energy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Peak shaving reduces utility demand charges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Green electrons directly into vehicle batteries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04 • HIGHWAY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Model 2 — Secure Distributed Charging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Turn unused charging capacity into verified network capacity.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PHASE 1</a:t>
            </a:r>
            <a:br/>
            <a:r>
              <a:t>■ Host 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246888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79" y="219456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PHASE 2</a:t>
            </a:r>
            <a:br/>
            <a:r>
              <a:t>■ Traveller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598" y="246888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38" y="219456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PHASE 3</a:t>
            </a:r>
            <a:br/>
            <a:r>
              <a:t>■ Authenticate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7" y="246888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7" y="219456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PHASE 4</a:t>
            </a:r>
            <a:br/>
            <a:r>
              <a:t>■ Self-charge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6" y="246888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56" y="2194560"/>
            <a:ext cx="1874519" cy="13716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PHASE 5</a:t>
            </a:r>
            <a:br/>
            <a:r>
              <a:t>■ Auto-lock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728655" cy="192024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06B6D4"/>
                </a:solidFill>
              </a:defRPr>
            </a:pPr>
            <a:r>
              <a:t>CRITICAL DESIGN DECISION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</a:defRPr>
            </a:pPr>
            <a:r>
              <a:t>A highway traveller should not need a company driver at every residential charger.</a:t>
            </a:r>
            <a:br/>
            <a:r>
              <a:t>The system therefore supports secure self-service.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Hosts maintain absolute home privacy with automated geofencing and zero physical contact required.</a:t>
            </a:r>
            <a:br/>
            <a:r>
              <a:t>• Travellers gain reliable stopovers without waiting for personnel, enabling 24/7 unassisted charging.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05 • TRUST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Security: a charger is not an open door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3-Tier Virtual Perimeter Security &amp; Active Video Surveillance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83280" cy="3108960"/>
          </a:xfrm>
          <a:prstGeom prst="roundRect">
            <a:avLst/>
          </a:prstGeom>
          <a:solidFill>
            <a:srgbClr val="0A201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9260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0B981"/>
                </a:solidFill>
              </a:defRPr>
            </a:pPr>
            <a:r>
              <a:t>GREEN: SAFE ZONE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Authorized charging area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Vehicle parking stall &amp; EVSE holster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Full permission for vehicle driver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Continuous session telemetry recording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Normal status, no alerts triggered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383280" cy="3108960"/>
          </a:xfrm>
          <a:prstGeom prst="roundRect">
            <a:avLst/>
          </a:prstGeom>
          <a:solidFill>
            <a:srgbClr val="261C0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240280"/>
            <a:ext cx="29260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59E0B"/>
                </a:solidFill>
              </a:defRPr>
            </a:pPr>
            <a:r>
              <a:t>YELLOW: WARNING ZONE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Buffer zone around charging bay (3m)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Optical AI motion tracking active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Warning chime &amp; courtesy audio prompt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Host notified of prolonged dwell time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Continued active video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383280" cy="3108960"/>
          </a:xfrm>
          <a:prstGeom prst="roundRect">
            <a:avLst/>
          </a:prstGeom>
          <a:solidFill>
            <a:srgbClr val="261014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240280"/>
            <a:ext cx="29260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F4444"/>
                </a:solidFill>
              </a:defRPr>
            </a:pPr>
            <a:r>
              <a:t>RED: RESTRICTED ZONE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Private property / residence entrance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Immediate high-decibel alarm trigger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Real-time push notification to host &amp; app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Instant EVSE power cutoff relay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Immutable event log + police dispatch trail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CCTV + virtual perimeter monitoring keeps the charging interaction controlled. The zones are a conceptual safety framework designed to reduce unwanted movement and false alarms.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06 • ACCESS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Smart charger control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Cryptographic token gating and dual-operating mode firmware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874519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8FAFC"/>
                </a:solidFill>
              </a:defRPr>
            </a:pPr>
            <a:r>
              <a:t>■ Identity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210312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79" y="1920240"/>
            <a:ext cx="1874519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8FAFC"/>
                </a:solidFill>
              </a:defRPr>
            </a:pPr>
            <a:r>
              <a:t>■ Temporary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598" y="210312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38" y="1920240"/>
            <a:ext cx="1874519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8FAFC"/>
                </a:solidFill>
              </a:defRPr>
            </a:pPr>
            <a:r>
              <a:t>■ Unlock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7" y="210312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7" y="1920240"/>
            <a:ext cx="1874519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8FAFC"/>
                </a:solidFill>
              </a:defRPr>
            </a:pPr>
            <a:r>
              <a:t>■ 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6" y="210312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56" y="1920240"/>
            <a:ext cx="1874519" cy="11887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8FAFC"/>
                </a:solidFill>
              </a:defRPr>
            </a:pPr>
            <a:r>
              <a:t>■ Auto-lock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83280"/>
            <a:ext cx="5120640" cy="1828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1188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OWNER MODE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Owner authenticates via phone/NFC token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Direct private charging with priority override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Session ends → instant solenoid latch lock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Zero fees deducted for personal electricity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383280"/>
            <a:ext cx="5120640" cy="182880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61188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TRAVELLER MODE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Platform booking issues time-bound JWT access token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Unlocks port connector only when geofence is validated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Monitors active session power &amp; energy delivered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Auto-locks upon disconnect or scheduled cutoff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6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Safety: the external module is a security/monitoring controller. High-current charging should remain under a properly rated EVSE and supported control mechanisms.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07 • VERIFICATION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Every session leaves evidence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Tripartite photographic audit trail and AI computer vision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83280" cy="25603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29260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BEFORE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High-resolution condition check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Vehicle exterior &amp; port flap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Connector pins &amp; cable integrity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Charger housing &amp; driveway area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Host &amp; traveller sign-off timestamp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25603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29260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CHARGING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Continuous real-time telemetry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CCTV synchronized video stream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Immutable cryptographic session log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Power draw &amp; current consistency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Perimeter sensor anomaly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03120"/>
            <a:ext cx="3383280" cy="25603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331720"/>
            <a:ext cx="29260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AFTER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Repeat photos in matching angles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Automated computer vision comparison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Difference detection (scratches/burns)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Cable re-holstered verification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Digital release receipt generated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67E8F9"/>
                </a:solidFill>
              </a:defRPr>
            </a:pPr>
            <a:r>
              <a:t>AI / computer vision: flags possible visible differences.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Human/technical verification: determines what actually happened and supports liability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08 • MONITORING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Protect the charger and the vehicle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Telemetry-driven proactive safety and fault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1645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EF4444"/>
                </a:solidFill>
              </a:defRPr>
            </a:pPr>
            <a:r>
              <a:t>■  TEMPERATURE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Thermal monitoring at socket, plug &amp; internal relay to prevent thermal runaway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1645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■  VOLTAGE / CURRENT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Phase balance, overcurrent protection &amp; grid surge spike filtering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1645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06B6D4"/>
                </a:solidFill>
              </a:defRPr>
            </a:pPr>
            <a:r>
              <a:t>■  POWER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Real-time kW delivery tracking, kWh billing precision &amp; pilot PWM signal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1645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■  FAULT CODES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Ground fault isolation (GFCI), DC leakage &amp; pilot communication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423160" cy="100584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Detect abnormal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41148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931920"/>
            <a:ext cx="2423160" cy="100584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Safe EVSE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41148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423160" cy="100584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Notify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4114800"/>
            <a:ext cx="320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6B6D4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3931920"/>
            <a:ext cx="2423160" cy="100584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Inspect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7E8F9"/>
                </a:solidFill>
              </a:defRPr>
            </a:pPr>
            <a:r>
              <a:t>Each session creates an auditable digital trail: user identity, vehicle identity, charger identity, booking, time, charging data, CCTV events and condition photos.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09 • PLATFORM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The ecosystem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Connecting drivers, intelligent orchestration and diverse charging suppliers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83280" cy="29260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EV OWNER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Convenient charging on demand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Valet pickup scheduling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Highway stopover booking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Guaranteed spot reservation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Transparent per-kWh pricing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383280" cy="2926080"/>
          </a:xfrm>
          <a:prstGeom prst="roundRect">
            <a:avLst/>
          </a:prstGeom>
          <a:solidFill>
            <a:srgbClr val="101C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24028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6B6D4"/>
                </a:solidFill>
              </a:defRPr>
            </a:pPr>
            <a:r>
              <a:t>■■  PLATFORM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Booking &amp; Slot Optimization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Perimeter Security &amp; IoT Gateways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Dynamic Payment &amp; Escrow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AI Verification &amp; Evidence Cloud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Smart Load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383280" cy="29260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240280"/>
            <a:ext cx="292608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 CHARGER PROVIDERS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Hubs: Company vertical towers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Homes: Residential hosts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Hotels: Hospitality overnight bays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Businesses: Retail &amp; workplace fleets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Unlocks recurring passive income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0728655" cy="914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The platform coordinates the vehicle, charger, identity, payment, security and evidence — turning disconnected assets into one trusted network.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10 • BUSINESS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Scale without building every charger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Asset-right hybrid model: Capital efficiency meets enterprise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91840" cy="24688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OWNED HUBS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Controlled urban operations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Vertical parking land density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White-glove valet service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High margins &amp; steady recurring volume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Anchor brand presence in metro centers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2926080"/>
            <a:ext cx="365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10B981"/>
                </a:solidFill>
              </a:defRPr>
            </a:pPr>
            <a: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011680"/>
            <a:ext cx="3291840" cy="24688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DISTRIBUTED ASSETS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Verified unused private chargers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Zero host-side labor (self-service)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Rapid low-CapEx network expansion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Closes highway corridor coverage gaps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Host revenue sharing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926080"/>
            <a:ext cx="365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06B6D4"/>
                </a:solidFill>
              </a:defRPr>
            </a:pPr>
            <a:r>
              <a:t>=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011680"/>
            <a:ext cx="3291840" cy="246888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2402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8FAFC"/>
                </a:solidFill>
              </a:defRPr>
            </a:pPr>
            <a:r>
              <a:t>■ CHARGING NETWORK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More access with less infrastructure duplication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Unrivaled geographic footprint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Optimal capital efficiency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</a:defRPr>
            </a:pPr>
            <a:r>
              <a:t>•  High resilience &amp; redundancy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10728655" cy="1280160"/>
          </a:xfrm>
          <a:prstGeom prst="roundRect">
            <a:avLst/>
          </a:prstGeom>
          <a:solidFill>
            <a:srgbClr val="10182C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06B6D4"/>
                </a:solidFill>
              </a:defRPr>
            </a:pPr>
            <a:r>
              <a:t>7 DIVERSIFIED REVENUE STREAMS: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Charging fee  •  Valet/pickup fee  •  Platform fee  •  Host commission  •  Membership subscription  •  Fleet/corporate plans  •  Premium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11 • ROADMAP</a:t>
            </a:r>
          </a:p>
          <a:p>
            <a:pPr>
              <a:spcAft>
                <a:spcPts val="400"/>
              </a:spcAft>
              <a:defRPr sz="2600" b="1">
                <a:solidFill>
                  <a:srgbClr val="F8FAFC"/>
                </a:solidFill>
              </a:defRPr>
            </a:pPr>
            <a:r>
              <a:t>Pilot → network → scale</a:t>
            </a:r>
          </a:p>
          <a:p>
            <a:pPr>
              <a:defRPr sz="1300">
                <a:solidFill>
                  <a:srgbClr val="67E8F9"/>
                </a:solidFill>
              </a:defRPr>
            </a:pPr>
            <a:r>
              <a:t>Strategic 5-phase growth pathway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965960" cy="3931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800" b="1">
                <a:solidFill>
                  <a:srgbClr val="06B6D4"/>
                </a:solidFill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</a:defRPr>
            </a:pPr>
            <a:r>
              <a:t>Pilot</a:t>
            </a:r>
          </a:p>
          <a:p>
            <a:pPr>
              <a:spcAft>
                <a:spcPts val="1000"/>
              </a:spcAft>
              <a:defRPr sz="1200" b="1">
                <a:solidFill>
                  <a:srgbClr val="67E8F9"/>
                </a:solidFill>
              </a:defRPr>
            </a:pPr>
            <a:r>
              <a:t>Charging hub + valet in one city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Validate vertical mechanics, valet logistics, and city-level unit economics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16936" y="2103120"/>
            <a:ext cx="1965960" cy="3931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800" b="1">
                <a:solidFill>
                  <a:srgbClr val="94A3B8"/>
                </a:solidFill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</a:defRPr>
            </a:pPr>
            <a:r>
              <a:t>Connect</a:t>
            </a:r>
          </a:p>
          <a:p>
            <a:pPr>
              <a:spcAft>
                <a:spcPts val="1000"/>
              </a:spcAft>
              <a:defRPr sz="1200" b="1">
                <a:solidFill>
                  <a:srgbClr val="67E8F9"/>
                </a:solidFill>
              </a:defRPr>
            </a:pPr>
            <a:r>
              <a:t>Verified residential/commercial chargers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Onboard first cohort of distributed private host chargers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352" y="2103120"/>
            <a:ext cx="1965960" cy="3931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800" b="1">
                <a:solidFill>
                  <a:srgbClr val="94A3B8"/>
                </a:solidFill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</a:defRPr>
            </a:pPr>
            <a:r>
              <a:t>Self-service</a:t>
            </a:r>
          </a:p>
          <a:p>
            <a:pPr>
              <a:spcAft>
                <a:spcPts val="1000"/>
              </a:spcAft>
              <a:defRPr sz="1200" b="1">
                <a:solidFill>
                  <a:srgbClr val="67E8F9"/>
                </a:solidFill>
              </a:defRPr>
            </a:pPr>
            <a:r>
              <a:t>Secure highway charging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Roll out smart IoT lock controllers &amp; 3-zone CCTV perimeter security along key highways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7768" y="2103120"/>
            <a:ext cx="1965960" cy="3931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800" b="1">
                <a:solidFill>
                  <a:srgbClr val="94A3B8"/>
                </a:solidFill>
              </a:defRPr>
            </a:pPr>
            <a:r>
              <a:t>04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</a:defRPr>
            </a:pPr>
            <a:r>
              <a:t>Expand</a:t>
            </a:r>
          </a:p>
          <a:p>
            <a:pPr>
              <a:spcAft>
                <a:spcPts val="1000"/>
              </a:spcAft>
              <a:defRPr sz="1200" b="1">
                <a:solidFill>
                  <a:srgbClr val="67E8F9"/>
                </a:solidFill>
              </a:defRPr>
            </a:pPr>
            <a:r>
              <a:t>Geographic network growth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Scale across multi-city metropolitan clusters and key inter-state corridors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73184" y="2103120"/>
            <a:ext cx="1965960" cy="39319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800" b="1">
                <a:solidFill>
                  <a:srgbClr val="94A3B8"/>
                </a:solidFill>
              </a:defRPr>
            </a:pPr>
            <a:r>
              <a:t>05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</a:defRPr>
            </a:pPr>
            <a:r>
              <a:t>Integrate</a:t>
            </a:r>
          </a:p>
          <a:p>
            <a:pPr>
              <a:spcAft>
                <a:spcPts val="1000"/>
              </a:spcAft>
              <a:defRPr sz="1200" b="1">
                <a:solidFill>
                  <a:srgbClr val="67E8F9"/>
                </a:solidFill>
              </a:defRPr>
            </a:pPr>
            <a:r>
              <a:t>Fleets, hotels, parking &amp; infra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Enterprise B2B fleet contracts, hotel chain partnerships, and utility demand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905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</a:defRPr>
            </a:pPr>
            <a:r>
              <a:t>CHARGE WITHOUT THE CHASE.</a:t>
            </a:r>
          </a:p>
          <a:p>
            <a:pPr algn="ctr">
              <a:spcBef>
                <a:spcPts val="800"/>
              </a:spcBef>
              <a:defRPr sz="1800">
                <a:solidFill>
                  <a:srgbClr val="06B6D4"/>
                </a:solidFill>
              </a:defRPr>
            </a:pPr>
            <a:r>
              <a:t>From apartment charging to highway mobility — one secure EV charging network.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2468880" cy="21031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67E8F9"/>
                </a:solidFill>
              </a:defRPr>
            </a:pPr>
            <a:r>
              <a:t>CONVENIENCE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Urban EV drivers never hunt for plugs. Valet delivers a charged car every morning.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3108960"/>
            <a:ext cx="2468880" cy="21031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67E8F9"/>
                </a:solidFill>
              </a:defRPr>
            </a:pPr>
            <a:r>
              <a:t>SECURITY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3-zone perimeter, CCTV event logs, smart hardware lock, and AI evidence guarantee zero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108960"/>
            <a:ext cx="2468880" cy="21031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67E8F9"/>
                </a:solidFill>
              </a:defRPr>
            </a:pPr>
            <a:r>
              <a:t>UTILIZATION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Monetizes millions of idle private chargers, bridging highway range gaps at zero CapEx.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3108960"/>
            <a:ext cx="2468880" cy="2103120"/>
          </a:xfrm>
          <a:prstGeom prst="roundRect">
            <a:avLst/>
          </a:prstGeom>
          <a:solidFill>
            <a:srgbClr val="121A2F"/>
          </a:solidFill>
          <a:ln w="1905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500" b="1">
                <a:solidFill>
                  <a:srgbClr val="67E8F9"/>
                </a:solidFill>
              </a:defRPr>
            </a:pPr>
            <a:r>
              <a:t>SCALABILITY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Owned high-density urban hubs combined with asset-light host network scales rapidly.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Proposed concept — technology, hardware and operational details should be validated during pilot implementation.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EV CHARGING NETWORK  •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